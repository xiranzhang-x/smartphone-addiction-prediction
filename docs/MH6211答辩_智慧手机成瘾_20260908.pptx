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GB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个项目最大的收益不来自模型，来自预处理——一次数据表示的改动，比我们做过的任何建模改动都值钱。今天用十二分钟讲三件事：先讲并列比较，插补策略乘四种算法；再讲两个后续问题；最后把它收束成一个论断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先讲评判标准为什么会改变问题本身。数据里百分之七十点九四是正例，如果只看准确率，一个把所有人判成瘾的模型也有零点七零九四——它一个人都分不开。AUC 不同，它数的是配对：任取一个正例、一个负例，模型给正例打更高分的概率。每一对都来自两个类，这两类的规模就消掉了，猜到多数派骗不了它。比赛用 AUC 评分，对这份数据是对的。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缺失是否完全随机，我们不靠假设，直接检验。一共三个检验。第一，缺失与标签无关，十二列里缺失组与非缺失组的成瘾率最大差只有零点零零四二。第二，用其余列的值去预测某一列缺不缺，AUC 全部贴在零点五，这是最贴近 MCAR 定义的那个检验。第三，用其余列的缺失标记去预测，AUC 明显高于零点五——注意它说的是缺失按行成群，有些行大部分栏都填了，有些大部分没填。这不反驳 MCAR：MCAR 只要求缺失独立于数据取值，不要求各列缺失标记互相独立。所以结论是：缺失本身不携带标签的信息，只能靠没缺的栏去恢复缺了的栏——这正是下面主实验一条轴线的由来。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建模前，数据先告诉我们三件事。第一，一个变量就几乎能分开类别——按一小时分箱，屏幕时间的成瘾率从百分之二十四点二一路到百分之九十九点九六；把标签打乱做同样的分箱，极差从零点七七一塌到零点零二四，说明这不是分箱造出来的。第二，性别、压力、学业影响三列毫无信息——在固定屏幕时间分段里，各取值的成瘾率都是平的；消融删掉三列只掉零点零零零零三，五折只有三折同号，删掉。第三，数据里有一条无条件成立的硬关系：屏幕时间不小于社交加游戏加学习，残差最小值是零点零零零——这不是三项版那种被蕴含的推论，保障下限直接触到零点，这就是真正边界。它将成为派生特征预算余量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特征工程分两步。第一步是从结构里读出来的五个比值和差值，包括预算余量、周末比值、社交占比、游戏占比、醒着时间占比。第二步是逐取值目标编码：把一个列的每个精确取值替换成这个取值在训练折内的正例率，平滑系数 m 等于二十。为什么编码对这个数据有用：数值落在生成器的零点零一格点上，第二位小数与正例率相关，精确取值本身携带着信号，而且这个信号不是单调的——一棵树的分裂能说大于六点三七，说不等于六点三七，查表可以。注意比值和差值都必须先插补再算，缺一个分量整个特征就缺。编码的收益不在这一页，在倒数第二页一起讲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这是主实验：四种处理缺失的方式乘四种算法。L1 保留缺失标记让模型自己学往哪走，L2 填中位数，L3 回归预测，L4 预测均值匹配、从最近的五个真实样本里抽一个观测值。只有 xgboost 和 lightgbm 原生处理缺失，所以是十四格不是十六格。整张网格同跑六十九万行、同一套冻结五折、所有看标签的变换都在折内训练部分拟合，所以十四格可以直接比。我们只有一个结论级的数字：最好的单一模型 L1_xgboost，零点九六七八四。另外注意两个差距的量级：算法之间差约零点零三，插补策略之间只差零点零零一到零点零一。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把网格读成两句话。三种树完全一致：L1 大于 L2 大于 L4 大于 L3——越对具体数值承诺得多，分越低，因为提升树本来就有缺失的默认走向；插补把未知变成了一个数字，树只能照着信。线性模型相反，L3 大于 L2 大于 L4——glmnet 没有未知的概念，条件均值刚好是它能用的结构。这就是同一个预处理步骤、在两个模型族上符号相反，是后面这个模式的第一次出现。第三点是一个开放问题：L4 填的是真实观测值、更忠实，却在每棵树上都低于一个中位数填充——我们没有测到结论，只说假设：树的得失不在填得准不准，而在被填的格子还分不分得开。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主结论只用一张冻结折怕评委不踏实，我们把要下结论的三对对比，换另外三套折重跑，配对样本从五提到十五。每对都报三个量：均值差、Cohen's d、同号折数。三行全部十五折同号。第三行是第七页那个符号相反的直测：同一对插补线，在树上 L2 赢，在线性模型上 L3 赢，两边十五折全票。补充说明我们以 Cohen's d 和同号数为主判据，p 值只作参考，因为 n 等于五时配对检验不稳健；这些重复的结果只用于统计检验，主表还是那套冻结折。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页讲没有一个特征是孤立重要的。我们删掉每日通知数这一列、整条流程重跑，做了两次：在逐取值编码之前，代价是零点零零八二五；在编码之后，代价是零点零零零二二——缩小了三十七倍，而这列本身什么都没变。原因是它的信息现在有第二条通路 te_notifications_per_day，删掉原始列不再等于拿走信息。右侧的置换重要性，前五名全部是编码列，第一名是第六名的十倍。把两句话连起来：消融问这一列是不是必不可少，置换问模型到底用了它多少，当第二列携带同一份信息时，这两个答案就分道扬镳——所以消融表必须和它当时的那套特征集一起引用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调参到底买到什么。先说唯一付了钱的那一项：训练轮数。固定六百轮换成早停，从零点九五九一零涨到零点九六零八八，正零点零零一七八。然后两阶段网格搜索，十八组配置，从默认的零点九六五二九到最好零点九六五四五，只涨零点零零零一六，二阶段什么都没改变，深度四大于六大于八。重要的是这个对比：编码前调参值零点零零零六七，编码后只剩零点零零零一六——调参不是天生没用，是它想逼近的东西被编码直接喂给了模型，剩下的余量自然变小。稳健性一条：用最优参数重跑四条插补线，L1 大于 L2 大于 L3 不变，网格的结论不依赖超参。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集成只买到零点零零零二，我们如实说。成员十四位，相互的秩相关中位数零点九三，接近重复。为什么应该在秩空间加权：AUC 只读排序，而成员没有校准到同一尺度，glmnet 的输出铺得很开、提升树挤在窄带，直接平均概率等于把校准也一起加权了，摊得开的成员不是因为排得好而是数字动得大；换成秩把这个尺度消掉。秩空间比概率空间高零点零零零八七，是四种方法里最大的差距，而且零成本。排序平均反而低于最好的单模型，因为它一视同仁，而十四人里有八个低于零点九五五零。天花板不是合并方法，是同质——第十五页会讲该挑什么样的成员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到这里叙事换挡。主网格跑在全量上，但其余几乎所有对比——消融、调参、特征定价——都跑在二十万行的子样本上，全量只用于交付。有两个假设从未被检验：第一个，在子样本上做的选择，到全量上还成立吗；第二个，两个预处理步骤会不会互相破坏——插补和逐取值编码是分开设计、分开测量的，没有任何东西保证它们可以组合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为了回答第一个问题，我们做了一个样本量阶梯：五万、十万、二十万、四十万、全量，五级嵌套，十候选、二十五特征、同一套折。三个量：Spearman 秩相关、前五名集合、选择遗憾——遗憾是这个小样本筛选相对在全量上挑的代价，它才是真正要付的钱。结果：每一级的前五名集合与全量完全一致，遗憾在每一级都恰好为零；哪怕只用全量百分之七点二的数据，选出来的就是全量最优。完整排名不完全迁移：六次真正的排错无一例外涉及 L3 的三格；唯一一次涉及前五名的交换在第二、第三名之间，低于那一对自身的分辨率下限、判不清。下一页讲为什么排错的都是 L3。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这是全场最新的一页，讲两个预处理步骤会互相破坏。编码表按精确取值建立，数据落在零点零一格点上。三级插补的命中率：L2 中位数填的是真实观测值，百分之百；L3 回归预测填的是任意实数，落在格点外，命中率只有百分之零点零四五；L4 预测均值匹配抄的是真实样本值，百分之九十九点九九九。至少缺一列的行占百分之六十一，是这条失败能碰到的行的上界。机制验证：只变一个量，二十万无编码时 L3 领先零点零零一六零；二十万有编码时领先减半到零点零零零七六；全量有编码时 L4 反超零点零零六七三。L4 那一行我们事先写下了预测再测——PMM 抄的是真实观测值，必然留在格点上。结论框住：有逐取值编码的流程里，插补必须填回格点上的值。这也解释了为什么成立需要全量：数据越多，编码表越准，查得到与查不到的差距越大，L3 的损失随样本量放大。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把三件事收成一句话。插补：树能原生表示未知，线性模型不能，所以同一对步子 L2、L3 在两族上谁是赢家相反，各自十五折全票。派生特征：树能用台阶逼近一个两列比值，所以比值进了编码之后没有增量，但四项目的超平面任何深度都铺不出来，预算余量在编码之上仍然值零点零零零六四；这一行是三个实例里最弱的，没有跨模型族测量，我们如实说。逐取值查找：需要上千次分裂去逼近，线性模型则要为每个取值付一个参数，所以编码在树上值零点零零四二四、在 glmnet 上值零点零三三五二，差一个数量级。一句话：一项预处理的价值，等于下游模型自己造出这个变换有多难。这同时回答了第十一页——让集成有价值，要挑对同一份预处理需求不同的成员，而不是分数高的成员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交付与三个带走的东西。最优单模型零点九六七八四，十四成员秩空间集成零点九六八零七，比赛期间榜单零点九六六二七，赛后两个数字没有榜单验证。值得带走的：一是预处理的价值等于下游模型自己构造它的难度，三个独立实验同向验证；二是手工特征有没有用，取决于它的形状需要几项——树逼近两列比值，但任何深度铺不出四项超平面；三是多大算显著是这一对的性质，不是数据的性质，近乎孪生对零点零零零零九八，跨模型族零点零零零五六四。边界主动说：全程五折、没有十折对照；样本量阶梯只覆盖十四个候选里的十个；迁移只验证了模型选择和集成配权，没有验证超参选择。如果重新来，我们会把特征工程放在插补研究之前——整个插补研究跨度零点零零二九七，一步特征工程值零点零零四五五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martphone_addiction_defens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2383067" y="2025015"/>
            <a:ext cx="7425865" cy="1127760"/>
            <a:chOff x="2383067" y="2025015"/>
            <a:chExt cx="7425865" cy="1127760"/>
          </a:xfrm>
        </p:grpSpPr>
        <p:sp>
          <p:nvSpPr>
            <p:cNvPr id="2" name="TextBox 2"/>
            <p:cNvSpPr txBox="1"/>
            <p:nvPr/>
          </p:nvSpPr>
          <p:spPr>
            <a:xfrm>
              <a:off x="2383067" y="2025015"/>
              <a:ext cx="7425865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330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Preprocessing Beats Modelling</a:t>
              </a:r>
              <a:endParaRPr lang="en-GB" sz="330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2841235" y="2706529"/>
              <a:ext cx="65095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58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Predicting Smartphone Addiction · Kaggle Playground S6E8</a:t>
              </a:r>
              <a:endParaRPr lang="en-GB" sz="158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" name="Line 4"/>
            <p:cNvSpPr/>
            <p:nvPr/>
          </p:nvSpPr>
          <p:spPr>
            <a:xfrm>
              <a:off x="4476750" y="3143250"/>
              <a:ext cx="3238500" cy="9525"/>
            </a:xfrm>
            <a:custGeom>
              <a:avLst/>
              <a:gdLst/>
              <a:ahLst/>
              <a:cxnLst/>
              <a:rect l="l" t="t" r="r" b="b"/>
              <a:pathLst>
                <a:path w="3238500" h="9525">
                  <a:moveTo>
                    <a:pt x="0" y="0"/>
                  </a:moveTo>
                  <a:lnTo>
                    <a:pt x="32385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  <a:custDash>
                <a:ds d="400000" sp="300000"/>
              </a:custDash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3714750" y="3352800"/>
            <a:ext cx="5353050" cy="495300"/>
            <a:chOff x="3714750" y="3352800"/>
            <a:chExt cx="5353050" cy="495300"/>
          </a:xfrm>
        </p:grpSpPr>
        <p:sp>
          <p:nvSpPr>
            <p:cNvPr id="6" name="Rectangle 6"/>
            <p:cNvSpPr/>
            <p:nvPr/>
          </p:nvSpPr>
          <p:spPr>
            <a:xfrm>
              <a:off x="3714750" y="3352800"/>
              <a:ext cx="2076450" cy="4953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75000"/>
              </a:schemeClr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4340261" y="3519964"/>
              <a:ext cx="8254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</a:t>
              </a:r>
              <a:endParaRPr lang="en-GB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6400800" y="3352800"/>
              <a:ext cx="2667000" cy="495300"/>
            </a:xfrm>
            <a:prstGeom prst="roundRect">
              <a:avLst>
                <a:gd name="adj" fmla="val 50000"/>
              </a:avLst>
            </a:prstGeom>
            <a:solidFill>
              <a:schemeClr val="accent2">
                <a:alpha val="75000"/>
              </a:scheme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586652" y="3519964"/>
              <a:ext cx="22952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Group 10 · Members A–I</a:t>
              </a:r>
              <a:endParaRPr lang="en-GB" sz="128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5740400" y="4747260"/>
            <a:ext cx="71120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GB" sz="120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2026-09-08</a:t>
            </a:r>
            <a:endParaRPr lang="en-GB" sz="1200" dirty="0">
              <a:solidFill>
                <a:schemeClr val="accent6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14" name="Imag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9000" y="5295900"/>
            <a:ext cx="5334000" cy="10287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15586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1 · Setup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8109313" cy="440055"/>
            <a:chOff x="750570" y="1071562"/>
            <a:chExt cx="8109313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81093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The Metric Decides What Counts as a Good Model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54380" y="1724025"/>
            <a:ext cx="7590949" cy="560070"/>
            <a:chOff x="754380" y="1724025"/>
            <a:chExt cx="7590949" cy="560070"/>
          </a:xfrm>
        </p:grpSpPr>
        <p:sp>
          <p:nvSpPr>
            <p:cNvPr id="15" name="TextBox 15"/>
            <p:cNvSpPr txBox="1"/>
            <p:nvPr/>
          </p:nvSpPr>
          <p:spPr>
            <a:xfrm>
              <a:off x="754380" y="1724025"/>
              <a:ext cx="66122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 </a:t>
              </a:r>
              <a:r>
                <a:rPr lang="en-GB" sz="15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addicted_label</a:t>
              </a:r>
              <a:r>
                <a:rPr lang="en-GB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from 12 daily-use and routine features.</a:t>
              </a:r>
              <a:endParaRPr lang="en-GB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380" y="1990725"/>
              <a:ext cx="75909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classes are not balanced: </a:t>
              </a:r>
              <a:r>
                <a:rPr lang="en-GB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70.94%</a:t>
              </a:r>
              <a:r>
                <a:rPr lang="en-GB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of the training rows are positive.</a:t>
              </a:r>
              <a:endParaRPr lang="en-GB" sz="15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52856" y="2453640"/>
            <a:ext cx="8283808" cy="1319308"/>
            <a:chOff x="752856" y="2453640"/>
            <a:chExt cx="8283808" cy="1319308"/>
          </a:xfrm>
        </p:grpSpPr>
        <p:sp>
          <p:nvSpPr>
            <p:cNvPr id="18" name="TextBox 18"/>
            <p:cNvSpPr txBox="1"/>
            <p:nvPr/>
          </p:nvSpPr>
          <p:spPr>
            <a:xfrm>
              <a:off x="752856" y="2453640"/>
              <a:ext cx="524383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Accuracy counts rows, one per person.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155335" y="2853690"/>
              <a:ext cx="588132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800" i="1" dirty="0">
                  <a:solidFill>
                    <a:srgbClr val="C0000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rPr>
                <a:t>Accuracy = (TP + TN) / (TP + TN + FP + FN)</a:t>
              </a:r>
              <a:endParaRPr lang="en-GB" sz="1800" i="1" dirty="0">
                <a:solidFill>
                  <a:srgbClr val="C0000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54761" y="3237071"/>
              <a:ext cx="80543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Predict "addicted" for every row → Accuracy = </a:t>
              </a:r>
              <a:r>
                <a:rPr lang="en-GB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0.7094</a:t>
              </a:r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the majority rate itself,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4761" y="3494246"/>
              <a:ext cx="414498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earned by a model that separates nobody.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52856" y="3749040"/>
            <a:ext cx="9116825" cy="1100233"/>
            <a:chOff x="752856" y="3749040"/>
            <a:chExt cx="9116825" cy="1100233"/>
          </a:xfrm>
        </p:grpSpPr>
        <p:sp>
          <p:nvSpPr>
            <p:cNvPr id="23" name="TextBox 23"/>
            <p:cNvSpPr txBox="1"/>
            <p:nvPr/>
          </p:nvSpPr>
          <p:spPr>
            <a:xfrm>
              <a:off x="752856" y="3749040"/>
              <a:ext cx="61370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AUC counts pairs, one drawn from each class.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22319" y="4165282"/>
              <a:ext cx="75473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650" i="1" dirty="0">
                  <a:solidFill>
                    <a:srgbClr val="C0000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rPr>
                <a:t>AUC = P(s(x⁺) &gt; s(x⁻)) = (1/n⁺n⁻) · ΣᵢΣⱼ 1[s(x⁺ᵢ) &gt; s(x⁻ⱼ)]</a:t>
              </a:r>
              <a:endParaRPr lang="el-GR" sz="1650" i="1" dirty="0">
                <a:solidFill>
                  <a:srgbClr val="C0000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54761" y="4570571"/>
              <a:ext cx="82107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Every term compares one positive with one negative, so the class sizes divide out.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55142" y="5150168"/>
            <a:ext cx="9632708" cy="740283"/>
            <a:chOff x="755142" y="5150168"/>
            <a:chExt cx="9632708" cy="740283"/>
          </a:xfrm>
        </p:grpSpPr>
        <p:sp>
          <p:nvSpPr>
            <p:cNvPr id="27" name="TextBox 27"/>
            <p:cNvSpPr txBox="1"/>
            <p:nvPr/>
          </p:nvSpPr>
          <p:spPr>
            <a:xfrm>
              <a:off x="755142" y="5150168"/>
              <a:ext cx="96327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3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Under </a:t>
              </a:r>
              <a:r>
                <a:rPr lang="en-GB" sz="13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70.94%</a:t>
              </a:r>
              <a:r>
                <a:rPr lang="en-GB" sz="13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positives, accuracy rewards predicting the majority; AUC cannot be moved that way,</a:t>
              </a:r>
              <a:endParaRPr lang="en-GB" sz="13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0892" y="5359718"/>
              <a:ext cx="56592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because one class never appears except opposite the other.</a:t>
              </a:r>
              <a:endParaRPr lang="en-GB" sz="13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5142" y="5626418"/>
              <a:ext cx="84078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3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 competition scores on AUC — and this is why that is the </a:t>
              </a:r>
              <a:r>
                <a:rPr lang="en-GB" sz="13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right choice</a:t>
              </a:r>
              <a:r>
                <a:rPr lang="en-GB" sz="13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for this data.</a:t>
              </a:r>
              <a:endParaRPr lang="en-GB" sz="13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31" name="TextBox 31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383811" y="6668452"/>
              <a:ext cx="14243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Metric Decides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1286592" y="66684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15586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1 · Setup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6773704" cy="440055"/>
            <a:chOff x="750570" y="1071562"/>
            <a:chExt cx="6773704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6773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The Missingness Is MCAR — We Tested It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54761" y="1680210"/>
            <a:ext cx="8493674" cy="816387"/>
            <a:chOff x="754761" y="1680210"/>
            <a:chExt cx="8493674" cy="816387"/>
          </a:xfrm>
        </p:grpSpPr>
        <p:sp>
          <p:nvSpPr>
            <p:cNvPr id="15" name="TextBox 15"/>
            <p:cNvSpPr txBox="1"/>
            <p:nvPr/>
          </p:nvSpPr>
          <p:spPr>
            <a:xfrm>
              <a:off x="755904" y="1680210"/>
              <a:ext cx="84925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MCAR: whether a value is missing is independent of the data — of the label and of the feature values.</a:t>
              </a:r>
              <a:endParaRPr lang="en-GB" sz="120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761" y="1960721"/>
              <a:ext cx="7146925" cy="5358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691,369 training rows · 296,302 test rows · every column missing 4.18%–19.38%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  <a:p>
              <a:pPr marL="153035" indent="-153035" algn="l">
                <a:lnSpc>
                  <a:spcPts val="2025"/>
                </a:lnSpc>
                <a:buClr>
                  <a:schemeClr val="dk1"/>
                </a:buClr>
                <a:buSzTx/>
                <a:buFontTx/>
                <a:buChar char="•"/>
              </a:pPr>
              <a:r>
                <a:rPr lang="en-GB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61.06%</a:t>
              </a:r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of rows are missing at least one column.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2343150"/>
            <a:ext cx="10668000" cy="2800350"/>
            <a:chOff x="762000" y="2343150"/>
            <a:chExt cx="10668000" cy="2800350"/>
          </a:xfrm>
        </p:grpSpPr>
        <p:sp>
          <p:nvSpPr>
            <p:cNvPr id="18" name="Rectangle 18"/>
            <p:cNvSpPr/>
            <p:nvPr/>
          </p:nvSpPr>
          <p:spPr>
            <a:xfrm>
              <a:off x="762000" y="2343150"/>
              <a:ext cx="10668000" cy="280035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47166" y="2496502"/>
              <a:ext cx="11397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question asked</a:t>
              </a:r>
              <a:endParaRPr lang="en-GB" sz="1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376166" y="2496502"/>
              <a:ext cx="11162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how we tested</a:t>
              </a:r>
              <a:endParaRPr lang="en-GB" sz="1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05166" y="2496502"/>
              <a:ext cx="488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result</a:t>
              </a:r>
              <a:endParaRPr lang="en-GB" sz="1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614916" y="2496502"/>
              <a:ext cx="5752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verdict</a:t>
              </a:r>
              <a:endParaRPr lang="en-GB" sz="105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4095750" y="25717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19050">
              <a:solidFill>
                <a:srgbClr val="E9DBD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429500" y="25717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19050">
              <a:solidFill>
                <a:srgbClr val="E9DBD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9239250" y="2571750"/>
              <a:ext cx="9525" cy="2495550"/>
            </a:xfrm>
            <a:custGeom>
              <a:avLst/>
              <a:gdLst/>
              <a:ahLst/>
              <a:cxnLst/>
              <a:rect l="l" t="t" r="r" b="b"/>
              <a:pathLst>
                <a:path w="9525" h="2495550">
                  <a:moveTo>
                    <a:pt x="0" y="0"/>
                  </a:moveTo>
                  <a:lnTo>
                    <a:pt x="0" y="2495550"/>
                  </a:lnTo>
                </a:path>
              </a:pathLst>
            </a:custGeom>
            <a:noFill/>
            <a:ln w="19050">
              <a:solidFill>
                <a:srgbClr val="E9DBD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62000" y="33528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E9DBD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62000" y="42291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9050">
              <a:solidFill>
                <a:srgbClr val="E9DBD2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1095375" y="2793206"/>
              <a:ext cx="9572625" cy="429578"/>
              <a:chOff x="1095375" y="2793206"/>
              <a:chExt cx="9572625" cy="429578"/>
            </a:xfrm>
          </p:grpSpPr>
          <p:sp>
            <p:nvSpPr>
              <p:cNvPr id="28" name="Ellipse 28"/>
              <p:cNvSpPr/>
              <p:nvPr/>
            </p:nvSpPr>
            <p:spPr>
              <a:xfrm>
                <a:off x="1095375" y="2828925"/>
                <a:ext cx="285750" cy="2857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186535" y="2907506"/>
                <a:ext cx="1034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1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565910" y="2793206"/>
                <a:ext cx="197392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Is missingness related to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565910" y="3002756"/>
                <a:ext cx="7860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the </a:t>
                </a:r>
                <a:r>
                  <a:rPr lang="en-GB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label</a:t>
                </a:r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?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4328160" y="2793206"/>
                <a:ext cx="279933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addiction rate of the missing vs the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328160" y="3002756"/>
                <a:ext cx="230547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present group, all 12 columns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7614285" y="2907506"/>
                <a:ext cx="14953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largest gap </a:t>
                </a:r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0.0042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9620250" y="2838450"/>
                <a:ext cx="1047750" cy="285750"/>
              </a:xfrm>
              <a:prstGeom prst="roundRect">
                <a:avLst>
                  <a:gd name="adj" fmla="val 26667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10046409" y="2907506"/>
                <a:ext cx="1954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no</a:t>
                </a:r>
                <a:endParaRPr lang="en-GB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095375" y="3669506"/>
              <a:ext cx="9572625" cy="429578"/>
              <a:chOff x="1095375" y="3669506"/>
              <a:chExt cx="9572625" cy="429578"/>
            </a:xfrm>
          </p:grpSpPr>
          <p:sp>
            <p:nvSpPr>
              <p:cNvPr id="38" name="Ellipse 38"/>
              <p:cNvSpPr/>
              <p:nvPr/>
            </p:nvSpPr>
            <p:spPr>
              <a:xfrm>
                <a:off x="1095375" y="3705225"/>
                <a:ext cx="285750" cy="2857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1186535" y="3783806"/>
                <a:ext cx="1034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1565910" y="3669506"/>
                <a:ext cx="17455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 the other columns'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1565910" y="3879056"/>
                <a:ext cx="299090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values</a:t>
                </a:r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predict a column being missing?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4328160" y="3669506"/>
                <a:ext cx="307015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xgboost per column, on rows where the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328160" y="3879056"/>
                <a:ext cx="234530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other 11 are complete, 5-fold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7614285" y="3783806"/>
                <a:ext cx="16850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AUC </a:t>
                </a:r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0.5012 – 0.5144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9620250" y="3714750"/>
                <a:ext cx="1047750" cy="285750"/>
              </a:xfrm>
              <a:prstGeom prst="roundRect">
                <a:avLst>
                  <a:gd name="adj" fmla="val 26667"/>
                </a:avLst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0046409" y="3783806"/>
                <a:ext cx="19543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no</a:t>
                </a:r>
                <a:endParaRPr lang="en-GB" sz="112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8" name="Group 58"/>
            <p:cNvGrpSpPr/>
            <p:nvPr/>
          </p:nvGrpSpPr>
          <p:grpSpPr>
            <a:xfrm>
              <a:off x="1095375" y="4545806"/>
              <a:ext cx="9944215" cy="524351"/>
              <a:chOff x="1095375" y="4545806"/>
              <a:chExt cx="9944215" cy="524351"/>
            </a:xfrm>
          </p:grpSpPr>
          <p:sp>
            <p:nvSpPr>
              <p:cNvPr id="48" name="Ellipse 48"/>
              <p:cNvSpPr/>
              <p:nvPr/>
            </p:nvSpPr>
            <p:spPr>
              <a:xfrm>
                <a:off x="1095375" y="4581525"/>
                <a:ext cx="285750" cy="285750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1186535" y="4660106"/>
                <a:ext cx="10343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3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1565910" y="4545806"/>
                <a:ext cx="174558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 the other columns'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1565910" y="4755356"/>
                <a:ext cx="196575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missing flags</a:t>
                </a:r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predict it?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4328160" y="4545806"/>
                <a:ext cx="185941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same setup, flags only,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328160" y="4755356"/>
                <a:ext cx="720354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no values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14285" y="4660106"/>
                <a:ext cx="168502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AUC </a:t>
                </a:r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0.5674 – 0.7547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Rectangle 55"/>
              <p:cNvSpPr/>
              <p:nvPr/>
            </p:nvSpPr>
            <p:spPr>
              <a:xfrm>
                <a:off x="9620250" y="4591050"/>
                <a:ext cx="1047750" cy="285750"/>
              </a:xfrm>
              <a:prstGeom prst="roundRect">
                <a:avLst>
                  <a:gd name="adj" fmla="val 26667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9929317" y="4660106"/>
                <a:ext cx="42961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rgbClr val="6E0A1E"/>
                    </a:solidFill>
                    <a:latin typeface="+mn-lt"/>
                    <a:ea typeface="+mn-ea"/>
                    <a:cs typeface="+mn-cs"/>
                  </a:rPr>
                  <a:t>yes ⋆</a:t>
                </a:r>
                <a:endParaRPr lang="en-GB" sz="112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9615488" y="4893945"/>
                <a:ext cx="142410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900" i="1" dirty="0">
                    <a:solidFill>
                      <a:srgbClr val="C96F2E"/>
                    </a:solidFill>
                    <a:latin typeface="+mn-lt"/>
                    <a:ea typeface="+mn-ea"/>
                    <a:cs typeface="+mn-cs"/>
                  </a:rPr>
                  <a:t>clusters by row, see →</a:t>
                </a:r>
                <a:endParaRPr lang="en-GB" sz="900" i="1" dirty="0">
                  <a:solidFill>
                    <a:srgbClr val="C96F2E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7" name="Group 67"/>
          <p:cNvGrpSpPr/>
          <p:nvPr/>
        </p:nvGrpSpPr>
        <p:grpSpPr>
          <a:xfrm>
            <a:off x="11060906" y="945356"/>
            <a:ext cx="185737" cy="185737"/>
            <a:chOff x="11060906" y="945356"/>
            <a:chExt cx="185737" cy="185737"/>
          </a:xfrm>
        </p:grpSpPr>
        <p:grpSp>
          <p:nvGrpSpPr>
            <p:cNvPr id="66" name="Group 66"/>
            <p:cNvGrpSpPr/>
            <p:nvPr/>
          </p:nvGrpSpPr>
          <p:grpSpPr>
            <a:xfrm>
              <a:off x="11060906" y="945356"/>
              <a:ext cx="185737" cy="185737"/>
              <a:chOff x="11060906" y="945356"/>
              <a:chExt cx="185737" cy="185737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11060906" y="945356"/>
                <a:ext cx="185737" cy="185737"/>
              </a:xfrm>
              <a:custGeom>
                <a:avLst/>
                <a:gdLst/>
                <a:ahLst/>
                <a:cxnLst/>
                <a:rect l="l" t="t" r="r" b="b"/>
                <a:pathLst>
                  <a:path w="185737" h="185737">
                    <a:moveTo>
                      <a:pt x="0" y="0"/>
                    </a:moveTo>
                    <a:lnTo>
                      <a:pt x="0" y="185737"/>
                    </a:lnTo>
                    <a:lnTo>
                      <a:pt x="185737" y="185737"/>
                    </a:lnTo>
                  </a:path>
                </a:pathLst>
              </a:custGeom>
              <a:noFill/>
              <a:ln w="15478">
                <a:solidFill>
                  <a:schemeClr val="accent3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1102181" y="986631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5478">
                <a:solidFill>
                  <a:schemeClr val="accent3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11205368" y="965994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5478">
                <a:solidFill>
                  <a:schemeClr val="accent3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11153775" y="1048543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20637"/>
                    </a:moveTo>
                    <a:cubicBezTo>
                      <a:pt x="0" y="32035"/>
                      <a:pt x="9240" y="41275"/>
                      <a:pt x="20637" y="41275"/>
                    </a:cubicBezTo>
                    <a:cubicBezTo>
                      <a:pt x="32035" y="41275"/>
                      <a:pt x="41275" y="32035"/>
                      <a:pt x="41275" y="20637"/>
                    </a:cubicBezTo>
                    <a:cubicBezTo>
                      <a:pt x="41275" y="9240"/>
                      <a:pt x="32035" y="0"/>
                      <a:pt x="20637" y="0"/>
                    </a:cubicBezTo>
                    <a:cubicBezTo>
                      <a:pt x="9240" y="0"/>
                      <a:pt x="0" y="9240"/>
                      <a:pt x="0" y="20637"/>
                    </a:cubicBezTo>
                  </a:path>
                </a:pathLst>
              </a:custGeom>
              <a:noFill/>
              <a:ln w="15478">
                <a:solidFill>
                  <a:schemeClr val="accent3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11134788" y="1023985"/>
                <a:ext cx="24146" cy="29718"/>
              </a:xfrm>
              <a:custGeom>
                <a:avLst/>
                <a:gdLst/>
                <a:ahLst/>
                <a:cxnLst/>
                <a:rect l="l" t="t" r="r" b="b"/>
                <a:pathLst>
                  <a:path w="24146" h="29718">
                    <a:moveTo>
                      <a:pt x="0" y="0"/>
                    </a:moveTo>
                    <a:lnTo>
                      <a:pt x="24146" y="29718"/>
                    </a:lnTo>
                  </a:path>
                </a:pathLst>
              </a:custGeom>
              <a:noFill/>
              <a:ln w="15478">
                <a:solidFill>
                  <a:schemeClr val="accent3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11185639" y="1004606"/>
                <a:ext cx="29274" cy="47322"/>
              </a:xfrm>
              <a:custGeom>
                <a:avLst/>
                <a:gdLst/>
                <a:ahLst/>
                <a:cxnLst/>
                <a:rect l="l" t="t" r="r" b="b"/>
                <a:pathLst>
                  <a:path w="29274" h="47322">
                    <a:moveTo>
                      <a:pt x="0" y="47322"/>
                    </a:moveTo>
                    <a:lnTo>
                      <a:pt x="29274" y="0"/>
                    </a:lnTo>
                  </a:path>
                </a:pathLst>
              </a:custGeom>
              <a:noFill/>
              <a:ln w="15478">
                <a:solidFill>
                  <a:schemeClr val="accent3"/>
                </a:solidFill>
              </a:ln>
            </p:spPr>
          </p:sp>
        </p:grpSp>
      </p:grpSp>
      <p:grpSp>
        <p:nvGrpSpPr>
          <p:cNvPr id="72" name="Group 72"/>
          <p:cNvGrpSpPr/>
          <p:nvPr/>
        </p:nvGrpSpPr>
        <p:grpSpPr>
          <a:xfrm>
            <a:off x="755142" y="5378768"/>
            <a:ext cx="7678706" cy="1241488"/>
            <a:chOff x="755142" y="5378768"/>
            <a:chExt cx="7678706" cy="1241488"/>
          </a:xfrm>
        </p:grpSpPr>
        <p:sp>
          <p:nvSpPr>
            <p:cNvPr id="68" name="TextBox 68"/>
            <p:cNvSpPr txBox="1"/>
            <p:nvPr/>
          </p:nvSpPr>
          <p:spPr>
            <a:xfrm>
              <a:off x="755142" y="5378768"/>
              <a:ext cx="6746558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GB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Missingness is independent of the data — but the columns' missing indicators</a:t>
              </a:r>
              <a:br>
                <a:rPr lang="en-GB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are not independent of one another: it clusters by row.</a:t>
              </a:r>
              <a:endParaRPr lang="en-GB" sz="135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5904" y="5890260"/>
              <a:ext cx="7169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Test 3 does not refute MCAR — MCAR asks for independence from the </a:t>
              </a:r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data values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98804" y="6128385"/>
              <a:ext cx="33918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between the columns' missing flags.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55904" y="6385560"/>
              <a:ext cx="76779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Tests 1 and 2 decide the method: nothing about the label lives in the missingness pattern.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73" name="TextBox 73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5163470" y="6668452"/>
              <a:ext cx="18650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Missingness Is MCAR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286592" y="66684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15586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1 · Setup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8670451" cy="440055"/>
            <a:chOff x="750570" y="1071562"/>
            <a:chExt cx="8670451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867045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What the Data Told Us Before Any Model Was Fitted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753618" y="1650682"/>
            <a:ext cx="3227832" cy="4740974"/>
            <a:chOff x="753618" y="1650682"/>
            <a:chExt cx="3227832" cy="4740974"/>
          </a:xfrm>
        </p:grpSpPr>
        <p:sp>
          <p:nvSpPr>
            <p:cNvPr id="15" name="TextBox 15"/>
            <p:cNvSpPr txBox="1"/>
            <p:nvPr/>
          </p:nvSpPr>
          <p:spPr>
            <a:xfrm>
              <a:off x="753618" y="1650682"/>
              <a:ext cx="276380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· One column already</a:t>
              </a:r>
              <a:endParaRPr lang="en-GB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3618" y="1898332"/>
              <a:ext cx="28137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separates the classes.</a:t>
              </a:r>
              <a:endParaRPr lang="en-GB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4761" y="2198846"/>
              <a:ext cx="258569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1-h bins: </a:t>
              </a:r>
              <a:r>
                <a:rPr lang="en-GB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24.2% → 99.96%</a:t>
              </a:r>
              <a:endParaRPr lang="en-GB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18" name="Image 1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933450" y="2609850"/>
              <a:ext cx="3048000" cy="2895600"/>
            </a:xfrm>
            <a:prstGeom prst="rect">
              <a:avLst/>
            </a:prstGeom>
          </p:spPr>
        </p:pic>
        <p:sp>
          <p:nvSpPr>
            <p:cNvPr id="19" name="TextBox 19"/>
            <p:cNvSpPr txBox="1"/>
            <p:nvPr/>
          </p:nvSpPr>
          <p:spPr>
            <a:xfrm>
              <a:off x="927735" y="5650706"/>
              <a:ext cx="2563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FigureA · observed vs shuffled</a:t>
              </a:r>
              <a:endParaRPr lang="en-GB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27354" y="5928360"/>
              <a:ext cx="2844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Shuffled: </a:t>
              </a:r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0.024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vs real </a:t>
              </a:r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0.771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—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27354" y="6156960"/>
              <a:ext cx="30163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trend is real, not binning noise.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449318" y="1650682"/>
            <a:ext cx="3729670" cy="4740974"/>
            <a:chOff x="4449318" y="1650682"/>
            <a:chExt cx="3729670" cy="4740974"/>
          </a:xfrm>
        </p:grpSpPr>
        <p:sp>
          <p:nvSpPr>
            <p:cNvPr id="23" name="TextBox 23"/>
            <p:cNvSpPr txBox="1"/>
            <p:nvPr/>
          </p:nvSpPr>
          <p:spPr>
            <a:xfrm>
              <a:off x="4449318" y="1650682"/>
              <a:ext cx="359093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· Gender, stress, academic</a:t>
              </a:r>
              <a:endParaRPr lang="en-GB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449318" y="1898332"/>
              <a:ext cx="266589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impact carry nothing.</a:t>
              </a:r>
              <a:endParaRPr lang="en-GB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50461" y="2198846"/>
              <a:ext cx="35289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flat within fixed screen-time bands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26" name="Image 2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629150" y="2609850"/>
              <a:ext cx="3048000" cy="2895600"/>
            </a:xfrm>
            <a:prstGeom prst="rect">
              <a:avLst/>
            </a:prstGeom>
          </p:spPr>
        </p:pic>
        <p:sp>
          <p:nvSpPr>
            <p:cNvPr id="27" name="TextBox 27"/>
            <p:cNvSpPr txBox="1"/>
            <p:nvPr/>
          </p:nvSpPr>
          <p:spPr>
            <a:xfrm>
              <a:off x="4623435" y="5650706"/>
              <a:ext cx="28407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FigureB · three columns, no signal</a:t>
              </a:r>
              <a:endParaRPr lang="en-GB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623054" y="5928360"/>
              <a:ext cx="3024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EDA said noise; removing all three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623054" y="6156960"/>
              <a:ext cx="3555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costs </a:t>
              </a:r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−0.00003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(d −0.30, 3/5). Dropped.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8145018" y="1650682"/>
            <a:ext cx="3752266" cy="4740974"/>
            <a:chOff x="8145018" y="1650682"/>
            <a:chExt cx="3752266" cy="4740974"/>
          </a:xfrm>
        </p:grpSpPr>
        <p:sp>
          <p:nvSpPr>
            <p:cNvPr id="31" name="TextBox 31"/>
            <p:cNvSpPr txBox="1"/>
            <p:nvPr/>
          </p:nvSpPr>
          <p:spPr>
            <a:xfrm>
              <a:off x="8145018" y="1650682"/>
              <a:ext cx="26514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· One relation holds</a:t>
              </a:r>
              <a:endParaRPr lang="en-GB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145018" y="1898332"/>
              <a:ext cx="170481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6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on every row.</a:t>
              </a:r>
              <a:endParaRPr lang="en-GB" sz="16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146161" y="2198846"/>
              <a:ext cx="37511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screen ≥ social + gaming + work/study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34" name="Image 3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24850" y="2609850"/>
              <a:ext cx="3048000" cy="2895600"/>
            </a:xfrm>
            <a:prstGeom prst="rect">
              <a:avLst/>
            </a:prstGeom>
          </p:spPr>
        </p:pic>
        <p:sp>
          <p:nvSpPr>
            <p:cNvPr id="35" name="TextBox 35"/>
            <p:cNvSpPr txBox="1"/>
            <p:nvPr/>
          </p:nvSpPr>
          <p:spPr>
            <a:xfrm>
              <a:off x="8319135" y="5650706"/>
              <a:ext cx="27185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FigureC · every point above y = x</a:t>
              </a:r>
              <a:endParaRPr lang="en-GB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18754" y="5928360"/>
              <a:ext cx="27670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Residual min = </a:t>
              </a:r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0.000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— the true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18754" y="6156960"/>
              <a:ext cx="31699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boundary; it becomes "budget slack".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39" name="TextBox 39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67034" y="6668452"/>
              <a:ext cx="16579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What the Data Told Us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86592" y="66684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15586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1 · Setup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5581440" cy="440055"/>
            <a:chOff x="750570" y="1071562"/>
            <a:chExt cx="5581440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5581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Feature Engineering in Two Steps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42" name="Group 42"/>
          <p:cNvGrpSpPr/>
          <p:nvPr/>
        </p:nvGrpSpPr>
        <p:grpSpPr>
          <a:xfrm>
            <a:off x="752856" y="1729740"/>
            <a:ext cx="7018172" cy="2718435"/>
            <a:chOff x="752856" y="1729740"/>
            <a:chExt cx="7018172" cy="2718435"/>
          </a:xfrm>
        </p:grpSpPr>
        <p:sp>
          <p:nvSpPr>
            <p:cNvPr id="15" name="TextBox 15"/>
            <p:cNvSpPr txBox="1"/>
            <p:nvPr/>
          </p:nvSpPr>
          <p:spPr>
            <a:xfrm>
              <a:off x="752856" y="1729740"/>
              <a:ext cx="40205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 1 — five derived features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038350"/>
              <a:ext cx="6477000" cy="3619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45642" y="2130742"/>
              <a:ext cx="789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feature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993642" y="2130742"/>
              <a:ext cx="7798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formula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3810000" y="2038350"/>
              <a:ext cx="9525" cy="2400300"/>
            </a:xfrm>
            <a:custGeom>
              <a:avLst/>
              <a:gdLst/>
              <a:ahLst/>
              <a:cxnLst/>
              <a:rect l="l" t="t" r="r" b="b"/>
              <a:pathLst>
                <a:path w="9525" h="2400300">
                  <a:moveTo>
                    <a:pt x="0" y="0"/>
                  </a:moveTo>
                  <a:lnTo>
                    <a:pt x="0" y="2400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762000" y="20383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" y="4438650"/>
              <a:ext cx="6477000" cy="9525"/>
            </a:xfrm>
            <a:custGeom>
              <a:avLst/>
              <a:gdLst/>
              <a:ahLst/>
              <a:cxnLst/>
              <a:rect l="l" t="t" r="r" b="b"/>
              <a:pathLst>
                <a:path w="6477000" h="9525">
                  <a:moveTo>
                    <a:pt x="0" y="0"/>
                  </a:moveTo>
                  <a:lnTo>
                    <a:pt x="6477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762000" y="2438400"/>
              <a:ext cx="7009028" cy="356425"/>
              <a:chOff x="762000" y="2438400"/>
              <a:chExt cx="7009028" cy="356425"/>
            </a:xfrm>
          </p:grpSpPr>
          <p:sp>
            <p:nvSpPr>
              <p:cNvPr id="22" name="Line 22"/>
              <p:cNvSpPr/>
              <p:nvPr/>
            </p:nvSpPr>
            <p:spPr>
              <a:xfrm>
                <a:off x="762000" y="2438400"/>
                <a:ext cx="647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9525">
                    <a:moveTo>
                      <a:pt x="0" y="0"/>
                    </a:moveTo>
                    <a:lnTo>
                      <a:pt x="6477000" y="0"/>
                    </a:lnTo>
                  </a:path>
                </a:pathLst>
              </a:custGeom>
              <a:noFill/>
              <a:ln w="14288">
                <a:solidFill>
                  <a:srgbClr val="E9DBD2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945642" y="2530792"/>
                <a:ext cx="12436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budget slack</a:t>
                </a:r>
                <a:endPara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3993642" y="2530792"/>
                <a:ext cx="377738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dirty="0">
                    <a:solidFill>
                      <a:schemeClr val="dk1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screen − (social + gaming + work/study)</a:t>
                </a:r>
                <a:endParaRPr lang="en-GB" sz="1350" dirty="0">
                  <a:solidFill>
                    <a:schemeClr val="dk1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762000" y="2819400"/>
              <a:ext cx="6477000" cy="356425"/>
              <a:chOff x="762000" y="2819400"/>
              <a:chExt cx="6477000" cy="356425"/>
            </a:xfrm>
          </p:grpSpPr>
          <p:sp>
            <p:nvSpPr>
              <p:cNvPr id="26" name="Line 26"/>
              <p:cNvSpPr/>
              <p:nvPr/>
            </p:nvSpPr>
            <p:spPr>
              <a:xfrm>
                <a:off x="762000" y="2819400"/>
                <a:ext cx="647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9525">
                    <a:moveTo>
                      <a:pt x="0" y="0"/>
                    </a:moveTo>
                    <a:lnTo>
                      <a:pt x="6477000" y="0"/>
                    </a:lnTo>
                  </a:path>
                </a:pathLst>
              </a:custGeom>
              <a:noFill/>
              <a:ln w="14288">
                <a:solidFill>
                  <a:srgbClr val="E9DBD2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945642" y="2911792"/>
                <a:ext cx="139484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weekend ratio</a:t>
                </a:r>
                <a:endPara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993642" y="2911792"/>
                <a:ext cx="233720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dirty="0">
                    <a:solidFill>
                      <a:schemeClr val="dk1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weekend screen ÷ screen</a:t>
                </a:r>
                <a:endParaRPr lang="en-GB" sz="1350" dirty="0">
                  <a:solidFill>
                    <a:schemeClr val="dk1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762000" y="3200400"/>
              <a:ext cx="6477000" cy="356425"/>
              <a:chOff x="762000" y="3200400"/>
              <a:chExt cx="6477000" cy="356425"/>
            </a:xfrm>
          </p:grpSpPr>
          <p:sp>
            <p:nvSpPr>
              <p:cNvPr id="30" name="Line 30"/>
              <p:cNvSpPr/>
              <p:nvPr/>
            </p:nvSpPr>
            <p:spPr>
              <a:xfrm>
                <a:off x="762000" y="3200400"/>
                <a:ext cx="647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9525">
                    <a:moveTo>
                      <a:pt x="0" y="0"/>
                    </a:moveTo>
                    <a:lnTo>
                      <a:pt x="6477000" y="0"/>
                    </a:lnTo>
                  </a:path>
                </a:pathLst>
              </a:custGeom>
              <a:noFill/>
              <a:ln w="14288">
                <a:solidFill>
                  <a:srgbClr val="E9DBD2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945642" y="3292792"/>
                <a:ext cx="119322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social share</a:t>
                </a:r>
                <a:endPara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993642" y="3292792"/>
                <a:ext cx="140589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dirty="0">
                    <a:solidFill>
                      <a:schemeClr val="dk1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social ÷ screen</a:t>
                </a:r>
                <a:endParaRPr lang="en-GB" sz="1350" dirty="0">
                  <a:solidFill>
                    <a:schemeClr val="dk1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762000" y="3581400"/>
              <a:ext cx="6477000" cy="356425"/>
              <a:chOff x="762000" y="3581400"/>
              <a:chExt cx="6477000" cy="356425"/>
            </a:xfrm>
          </p:grpSpPr>
          <p:sp>
            <p:nvSpPr>
              <p:cNvPr id="34" name="Line 34"/>
              <p:cNvSpPr/>
              <p:nvPr/>
            </p:nvSpPr>
            <p:spPr>
              <a:xfrm>
                <a:off x="762000" y="3581400"/>
                <a:ext cx="647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9525">
                    <a:moveTo>
                      <a:pt x="0" y="0"/>
                    </a:moveTo>
                    <a:lnTo>
                      <a:pt x="6477000" y="0"/>
                    </a:lnTo>
                  </a:path>
                </a:pathLst>
              </a:custGeom>
              <a:noFill/>
              <a:ln w="14288">
                <a:solidFill>
                  <a:srgbClr val="E9DBD2"/>
                </a:solidFill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945642" y="3673792"/>
                <a:ext cx="128395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gaming share</a:t>
                </a:r>
                <a:endPara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993642" y="3673792"/>
                <a:ext cx="149230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dirty="0">
                    <a:solidFill>
                      <a:schemeClr val="dk1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gaming ÷ screen</a:t>
                </a:r>
                <a:endParaRPr lang="en-GB" sz="1350" dirty="0">
                  <a:solidFill>
                    <a:schemeClr val="dk1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762000" y="3962400"/>
              <a:ext cx="6477000" cy="356425"/>
              <a:chOff x="762000" y="3962400"/>
              <a:chExt cx="6477000" cy="356425"/>
            </a:xfrm>
          </p:grpSpPr>
          <p:sp>
            <p:nvSpPr>
              <p:cNvPr id="38" name="Line 38"/>
              <p:cNvSpPr/>
              <p:nvPr/>
            </p:nvSpPr>
            <p:spPr>
              <a:xfrm>
                <a:off x="762000" y="3962400"/>
                <a:ext cx="647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9525">
                    <a:moveTo>
                      <a:pt x="0" y="0"/>
                    </a:moveTo>
                    <a:lnTo>
                      <a:pt x="6477000" y="0"/>
                    </a:lnTo>
                  </a:path>
                </a:pathLst>
              </a:custGeom>
              <a:noFill/>
              <a:ln w="14288">
                <a:solidFill>
                  <a:srgbClr val="E9DBD2"/>
                </a:solidFill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945642" y="4054792"/>
                <a:ext cx="182834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waking-time share</a:t>
                </a:r>
                <a:endPara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993642" y="4054792"/>
                <a:ext cx="19915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350" dirty="0">
                    <a:solidFill>
                      <a:schemeClr val="dk1"/>
                    </a:solidFill>
                    <a:latin typeface="Cambria Math" panose="02040503050406030204"/>
                    <a:ea typeface="Cambria Math" panose="02040503050406030204"/>
                    <a:cs typeface="Cambria Math" panose="02040503050406030204"/>
                  </a:rPr>
                  <a:t>screen ÷ (24 − sleep)</a:t>
                </a:r>
                <a:endParaRPr lang="en-GB" sz="1350" dirty="0">
                  <a:solidFill>
                    <a:schemeClr val="dk1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endParaRP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752856" y="4663440"/>
            <a:ext cx="9065590" cy="2013966"/>
            <a:chOff x="752856" y="4663440"/>
            <a:chExt cx="9065590" cy="2013966"/>
          </a:xfrm>
        </p:grpSpPr>
        <p:sp>
          <p:nvSpPr>
            <p:cNvPr id="43" name="TextBox 43"/>
            <p:cNvSpPr txBox="1"/>
            <p:nvPr/>
          </p:nvSpPr>
          <p:spPr>
            <a:xfrm>
              <a:off x="752856" y="4663440"/>
              <a:ext cx="46125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Step 2 — per-value target encoding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4761" y="4989671"/>
              <a:ext cx="859354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Replace each </a:t>
              </a:r>
              <a:r>
                <a:rPr lang="en-GB" sz="14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exact value</a:t>
              </a:r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with the positive rate of that value, inside the training fold: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73554" y="5308282"/>
              <a:ext cx="744489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650" i="1" dirty="0">
                  <a:solidFill>
                    <a:srgbClr val="C00000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rPr>
                <a:t>enc(v) = ( positives at v + prior × m ) / ( rows at v + m ), m = 20</a:t>
              </a:r>
              <a:endParaRPr lang="en-GB" sz="1650" i="1" dirty="0">
                <a:solidFill>
                  <a:srgbClr val="C00000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5904" y="5680710"/>
              <a:ext cx="7623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Every ratio in Step 1 is computed </a:t>
              </a:r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after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imputation — a missing component would make the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8804" y="5928360"/>
              <a:ext cx="19324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whole feature missing.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5904" y="6195060"/>
              <a:ext cx="77374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Why it fits: values sit on a </a:t>
              </a:r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0.01 lattice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and the exact value carries non-monotone signal —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8804" y="6442710"/>
              <a:ext cx="45354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split says "&gt; 6.37"; a lookup table can say "= 6.37".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51" name="TextBox 51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855426" y="6668452"/>
              <a:ext cx="24811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Feature Engineering in Two Steps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86592" y="66684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239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2 · Comparisons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248900" y="171450"/>
              <a:ext cx="1181100" cy="114300"/>
              <a:chOff x="10248900" y="171450"/>
              <a:chExt cx="11811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2489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750570" y="1071562"/>
            <a:ext cx="8960405" cy="440055"/>
            <a:chOff x="750570" y="1071562"/>
            <a:chExt cx="8960405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750570" y="1071562"/>
              <a:ext cx="89604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Four Ways to Handle Missing Values × Four Algorithms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9" name="Group 19"/>
          <p:cNvGrpSpPr/>
          <p:nvPr/>
        </p:nvGrpSpPr>
        <p:grpSpPr>
          <a:xfrm>
            <a:off x="755523" y="1767364"/>
            <a:ext cx="10383437" cy="801814"/>
            <a:chOff x="755523" y="1767364"/>
            <a:chExt cx="10383437" cy="801814"/>
          </a:xfrm>
        </p:grpSpPr>
        <p:sp>
          <p:nvSpPr>
            <p:cNvPr id="16" name="TextBox 16"/>
            <p:cNvSpPr txBox="1"/>
            <p:nvPr/>
          </p:nvSpPr>
          <p:spPr>
            <a:xfrm>
              <a:off x="755523" y="1767364"/>
              <a:ext cx="84253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L1</a:t>
              </a:r>
              <a:r>
                <a:rPr lang="en-GB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keep the missing marker — the model learns which way to send it · </a:t>
              </a:r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</a:t>
              </a:r>
              <a:r>
                <a:rPr lang="en-GB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fill the column median</a:t>
              </a:r>
              <a:endParaRPr lang="en-GB" sz="128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523" y="2015014"/>
              <a:ext cx="103834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L3</a:t>
              </a:r>
              <a:r>
                <a:rPr lang="en-GB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regress on the other columns, fill the prediction · </a:t>
              </a:r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L4</a:t>
              </a:r>
              <a:r>
                <a:rPr lang="en-GB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PMM: draw one </a:t>
              </a:r>
              <a:r>
                <a:rPr lang="en-GB" sz="1280" i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observed</a:t>
              </a:r>
              <a:r>
                <a:rPr lang="en-GB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 value from the 5 nearest donors</a:t>
              </a:r>
              <a:endParaRPr lang="en-GB" sz="128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523" y="2319814"/>
              <a:ext cx="9838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Only xgboost and lightgbm handle missing values natively, so L1 exists for those two alone — </a:t>
              </a:r>
              <a:r>
                <a:rPr lang="en-GB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14 cells, not 16.</a:t>
              </a:r>
              <a:endParaRPr lang="en-GB" sz="128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4191000" y="2724150"/>
            <a:ext cx="4762500" cy="1895475"/>
            <a:chOff x="4191000" y="2724150"/>
            <a:chExt cx="4762500" cy="1895475"/>
          </a:xfrm>
        </p:grpSpPr>
        <p:sp>
          <p:nvSpPr>
            <p:cNvPr id="20" name="Rectangle 20"/>
            <p:cNvSpPr/>
            <p:nvPr/>
          </p:nvSpPr>
          <p:spPr>
            <a:xfrm>
              <a:off x="4191000" y="2724150"/>
              <a:ext cx="857250" cy="3619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48250" y="2724150"/>
              <a:ext cx="1000125" cy="3619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048375" y="2724150"/>
              <a:ext cx="1000125" cy="3619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048500" y="2724150"/>
              <a:ext cx="1000125" cy="3619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048625" y="2724150"/>
              <a:ext cx="904875" cy="3619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169070" y="2815114"/>
              <a:ext cx="748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xgboost</a:t>
              </a:r>
              <a:endParaRPr lang="en-GB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145298" y="2815114"/>
              <a:ext cx="7967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lightgbm</a:t>
              </a:r>
              <a:endParaRPr lang="en-GB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221892" y="2815114"/>
              <a:ext cx="64381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ranger</a:t>
              </a:r>
              <a:endParaRPr lang="en-GB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179171" y="2815114"/>
              <a:ext cx="63425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glmnet</a:t>
              </a:r>
              <a:endParaRPr lang="en-GB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>
              <a:off x="4191000" y="272415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4191000" y="30861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4191000" y="34671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rgbClr val="E9DBD2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4191000" y="38481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rgbClr val="E9DBD2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4191000" y="42291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rgbClr val="E9DBD2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191000" y="4610100"/>
              <a:ext cx="4762500" cy="9525"/>
            </a:xfrm>
            <a:custGeom>
              <a:avLst/>
              <a:gdLst/>
              <a:ahLst/>
              <a:cxnLst/>
              <a:rect l="l" t="t" r="r" b="b"/>
              <a:pathLst>
                <a:path w="4762500" h="9525">
                  <a:moveTo>
                    <a:pt x="0" y="0"/>
                  </a:moveTo>
                  <a:lnTo>
                    <a:pt x="4762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5048250" y="30861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6048375" y="30861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7048500" y="30861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8048625" y="3086100"/>
              <a:ext cx="9525" cy="1524000"/>
            </a:xfrm>
            <a:custGeom>
              <a:avLst/>
              <a:gdLst/>
              <a:ahLst/>
              <a:cxnLst/>
              <a:rect l="l" t="t" r="r" b="b"/>
              <a:pathLst>
                <a:path w="9525" h="1524000">
                  <a:moveTo>
                    <a:pt x="0" y="0"/>
                  </a:moveTo>
                  <a:lnTo>
                    <a:pt x="0" y="1524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4485473" y="3196114"/>
              <a:ext cx="4067373" cy="249364"/>
              <a:chOff x="4485473" y="3196114"/>
              <a:chExt cx="4067373" cy="249364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4485473" y="3196114"/>
                <a:ext cx="2683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L1</a:t>
                </a:r>
                <a:endPara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5169070" y="3196114"/>
                <a:ext cx="7489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0.96784</a:t>
                </a:r>
                <a:endParaRPr lang="en-GB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186719" y="3196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0.96746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7487255" y="3196114"/>
                <a:ext cx="11309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—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439755" y="3196114"/>
                <a:ext cx="11309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—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0" name="Group 50"/>
            <p:cNvGrpSpPr/>
            <p:nvPr/>
          </p:nvGrpSpPr>
          <p:grpSpPr>
            <a:xfrm>
              <a:off x="4485473" y="3577114"/>
              <a:ext cx="4367784" cy="249364"/>
              <a:chOff x="4485473" y="3577114"/>
              <a:chExt cx="4367784" cy="249364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4485473" y="3577114"/>
                <a:ext cx="2683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L2</a:t>
                </a:r>
                <a:endPara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5186594" y="3577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0.96755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186719" y="3577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0.96726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7186844" y="3577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0.96324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39344" y="3577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0.94898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4485473" y="3958114"/>
              <a:ext cx="4385308" cy="249364"/>
              <a:chOff x="4485473" y="3958114"/>
              <a:chExt cx="4385308" cy="249364"/>
            </a:xfrm>
          </p:grpSpPr>
          <p:sp>
            <p:nvSpPr>
              <p:cNvPr id="51" name="TextBox 51"/>
              <p:cNvSpPr txBox="1"/>
              <p:nvPr/>
            </p:nvSpPr>
            <p:spPr>
              <a:xfrm>
                <a:off x="4485473" y="3958114"/>
                <a:ext cx="2683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L3</a:t>
                </a:r>
                <a:endPara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5186594" y="3958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0.94770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6186719" y="3958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0.94081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186844" y="3958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0.93903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121820" y="3958114"/>
                <a:ext cx="748961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0.95490</a:t>
                </a:r>
                <a:endParaRPr lang="en-GB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62" name="Group 62"/>
            <p:cNvGrpSpPr/>
            <p:nvPr/>
          </p:nvGrpSpPr>
          <p:grpSpPr>
            <a:xfrm>
              <a:off x="4485473" y="4339114"/>
              <a:ext cx="4367784" cy="249364"/>
              <a:chOff x="4485473" y="4339114"/>
              <a:chExt cx="4367784" cy="249364"/>
            </a:xfrm>
          </p:grpSpPr>
          <p:sp>
            <p:nvSpPr>
              <p:cNvPr id="57" name="TextBox 57"/>
              <p:cNvSpPr txBox="1"/>
              <p:nvPr/>
            </p:nvSpPr>
            <p:spPr>
              <a:xfrm>
                <a:off x="4485473" y="4339114"/>
                <a:ext cx="26830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L4</a:t>
                </a:r>
                <a:endPara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5186594" y="4339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0.95443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6186719" y="4339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0.95410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0" name="TextBox 60"/>
              <p:cNvSpPr txBox="1"/>
              <p:nvPr/>
            </p:nvSpPr>
            <p:spPr>
              <a:xfrm>
                <a:off x="7186844" y="4339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0.95076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8139344" y="4339114"/>
                <a:ext cx="71391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0.94559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5" name="Group 65"/>
          <p:cNvGrpSpPr/>
          <p:nvPr/>
        </p:nvGrpSpPr>
        <p:grpSpPr>
          <a:xfrm>
            <a:off x="2058886" y="5191125"/>
            <a:ext cx="8074227" cy="293370"/>
            <a:chOff x="2058886" y="5191125"/>
            <a:chExt cx="8074227" cy="293370"/>
          </a:xfrm>
        </p:grpSpPr>
        <p:sp>
          <p:nvSpPr>
            <p:cNvPr id="64" name="TextBox 64"/>
            <p:cNvSpPr txBox="1"/>
            <p:nvPr/>
          </p:nvSpPr>
          <p:spPr>
            <a:xfrm>
              <a:off x="2058886" y="5191125"/>
              <a:ext cx="80742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 single model: </a:t>
              </a:r>
              <a:r>
                <a:rPr lang="en-GB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L1_xgboost 0.96784 ± 0.00053</a:t>
              </a:r>
              <a:r>
                <a:rPr lang="en-GB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1,264 boosting rounds</a:t>
              </a:r>
              <a:endParaRPr lang="en-GB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55523" y="5786914"/>
            <a:ext cx="10459491" cy="477964"/>
            <a:chOff x="755523" y="5786914"/>
            <a:chExt cx="10459491" cy="477964"/>
          </a:xfrm>
        </p:grpSpPr>
        <p:sp>
          <p:nvSpPr>
            <p:cNvPr id="66" name="TextBox 66"/>
            <p:cNvSpPr txBox="1"/>
            <p:nvPr/>
          </p:nvSpPr>
          <p:spPr>
            <a:xfrm>
              <a:off x="755523" y="5786914"/>
              <a:ext cx="104594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28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All 14 cells run on the same 691,369 rows under one frozen 5-fold split, and every transform that reads the label —</a:t>
              </a:r>
              <a:endParaRPr lang="en-GB" sz="128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55523" y="6015514"/>
              <a:ext cx="91797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imputer and encoder alike — is fitted inside the training fold. </a:t>
              </a:r>
              <a:r>
                <a:rPr lang="en-GB" sz="128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The 14 scores are directly comparable.</a:t>
              </a:r>
              <a:endParaRPr lang="en-GB" sz="1280" b="1" i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023866" y="6668452"/>
              <a:ext cx="2144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Four Ways × Four Algorithms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286592" y="66684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239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2 · Comparisons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248900" y="171450"/>
              <a:ext cx="1181100" cy="114300"/>
              <a:chOff x="10248900" y="171450"/>
              <a:chExt cx="11811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2489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750570" y="1071562"/>
            <a:ext cx="5403266" cy="440055"/>
            <a:chOff x="750570" y="1071562"/>
            <a:chExt cx="5403266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750570" y="1071562"/>
              <a:ext cx="540326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The Two Model Families Disagree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53999" y="1773079"/>
            <a:ext cx="8319252" cy="631889"/>
            <a:chOff x="753999" y="1773079"/>
            <a:chExt cx="8319252" cy="631889"/>
          </a:xfrm>
        </p:grpSpPr>
        <p:sp>
          <p:nvSpPr>
            <p:cNvPr id="16" name="TextBox 16"/>
            <p:cNvSpPr txBox="1"/>
            <p:nvPr/>
          </p:nvSpPr>
          <p:spPr>
            <a:xfrm>
              <a:off x="753999" y="1773079"/>
              <a:ext cx="831925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Trees (xgboost · lightgbm · ranger): </a:t>
              </a:r>
              <a:r>
                <a:rPr lang="en-GB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L1 &gt; L2 &gt; L4 &gt; L3</a:t>
              </a:r>
              <a:r>
                <a:rPr lang="en-GB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GB" sz="1580" i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(ranger: no L1)</a:t>
              </a:r>
              <a:endParaRPr lang="en-GB" sz="1580" i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3999" y="2096929"/>
              <a:ext cx="4630339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linear model (glmnet): </a:t>
              </a:r>
              <a:r>
                <a:rPr lang="en-GB" sz="15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L3 &gt; L2 &gt; L4</a:t>
              </a:r>
              <a:endParaRPr lang="en-GB" sz="15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9150" y="2609850"/>
            <a:ext cx="8028813" cy="832676"/>
            <a:chOff x="819150" y="2609850"/>
            <a:chExt cx="8028813" cy="832676"/>
          </a:xfrm>
        </p:grpSpPr>
        <p:sp>
          <p:nvSpPr>
            <p:cNvPr id="19" name="Ellipse 19"/>
            <p:cNvSpPr/>
            <p:nvPr/>
          </p:nvSpPr>
          <p:spPr>
            <a:xfrm>
              <a:off x="819150" y="2609850"/>
              <a:ext cx="342900" cy="342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28295" y="26927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6449" y="2649379"/>
              <a:ext cx="395359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 the trees, doing nothing wins.</a:t>
              </a:r>
              <a:endParaRPr lang="en-GB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07592" y="2940368"/>
              <a:ext cx="7540371" cy="502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boosted tree already learns a default direction for a missing value at every split.</a:t>
              </a:r>
              <a:b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Imputation turns "unknown" into a definite number the tree must then trust as evidence.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819150" y="3714750"/>
            <a:ext cx="8886063" cy="832676"/>
            <a:chOff x="819150" y="3714750"/>
            <a:chExt cx="8886063" cy="832676"/>
          </a:xfrm>
        </p:grpSpPr>
        <p:sp>
          <p:nvSpPr>
            <p:cNvPr id="24" name="Ellipse 24"/>
            <p:cNvSpPr/>
            <p:nvPr/>
          </p:nvSpPr>
          <p:spPr>
            <a:xfrm>
              <a:off x="819150" y="3714750"/>
              <a:ext cx="342900" cy="342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28295" y="37976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06449" y="3754279"/>
              <a:ext cx="428203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linear model wants the opposite.</a:t>
              </a:r>
              <a:endParaRPr lang="en-GB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307592" y="4045268"/>
              <a:ext cx="8397621" cy="5021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75"/>
                </a:lnSpc>
              </a:pP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glmnet has no way to represent "unknown" — every row must carry a number. L3's conditional-mean</a:t>
              </a:r>
              <a:b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fill preserves the correlation structure a linear model depends on; L4's random draw is noise.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819150" y="4819650"/>
            <a:ext cx="8640118" cy="832675"/>
            <a:chOff x="819150" y="4819650"/>
            <a:chExt cx="8640118" cy="832675"/>
          </a:xfrm>
        </p:grpSpPr>
        <p:sp>
          <p:nvSpPr>
            <p:cNvPr id="29" name="Ellipse 29"/>
            <p:cNvSpPr/>
            <p:nvPr/>
          </p:nvSpPr>
          <p:spPr>
            <a:xfrm>
              <a:off x="819150" y="4819650"/>
              <a:ext cx="342900" cy="3429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928295" y="4902518"/>
              <a:ext cx="124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306449" y="4859179"/>
              <a:ext cx="333386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Open: why is L4 not better?</a:t>
              </a:r>
              <a:endParaRPr lang="en-GB" sz="158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307592" y="5150168"/>
              <a:ext cx="81516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L4 fills in </a:t>
              </a:r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real observed values</a:t>
              </a: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and is the more faithful imputer, yet it sits below the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07592" y="5388292"/>
              <a:ext cx="29036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plain median fill on every tree.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56285" y="5707856"/>
            <a:ext cx="8615996" cy="905828"/>
            <a:chOff x="756285" y="5707856"/>
            <a:chExt cx="8615996" cy="905828"/>
          </a:xfrm>
        </p:grpSpPr>
        <p:sp>
          <p:nvSpPr>
            <p:cNvPr id="35" name="TextBox 35"/>
            <p:cNvSpPr txBox="1"/>
            <p:nvPr/>
          </p:nvSpPr>
          <p:spPr>
            <a:xfrm>
              <a:off x="756285" y="5707856"/>
              <a:ext cx="72175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Points 1 and 2 carry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opposite signs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on two model families — the first of three independent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99185" y="5936456"/>
              <a:ext cx="23453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appearances of that pattern.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6285" y="6165056"/>
              <a:ext cx="86159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Hypothesis for point 3 (unmeasured): what matters to a tree is whether filled cells can still be told apart —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9185" y="6393656"/>
              <a:ext cx="28710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how accurately they were filled.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40" name="TextBox 40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95020" y="6668452"/>
              <a:ext cx="24019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Two Model Families Disagree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86592" y="66684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7/16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239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2 · Comparisons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248900" y="171450"/>
              <a:ext cx="1181100" cy="114300"/>
              <a:chOff x="10248900" y="171450"/>
              <a:chExt cx="11811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2489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750570" y="1071562"/>
            <a:ext cx="4930693" cy="440055"/>
            <a:chOff x="750570" y="1071562"/>
            <a:chExt cx="4930693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750570" y="1071562"/>
              <a:ext cx="493069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The Same Conclusion at n = 15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55142" y="1778318"/>
            <a:ext cx="9843854" cy="511683"/>
            <a:chOff x="755142" y="1778318"/>
            <a:chExt cx="9843854" cy="511683"/>
          </a:xfrm>
        </p:grpSpPr>
        <p:sp>
          <p:nvSpPr>
            <p:cNvPr id="16" name="TextBox 16"/>
            <p:cNvSpPr txBox="1"/>
            <p:nvPr/>
          </p:nvSpPr>
          <p:spPr>
            <a:xfrm>
              <a:off x="755142" y="1778318"/>
              <a:ext cx="92015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comparisons we wanted to draw conclusions from were re-run on </a:t>
              </a:r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three further fold splits</a:t>
              </a: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—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142" y="2025968"/>
              <a:ext cx="98438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 folds × 3 splits = </a:t>
              </a:r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 paired observations</a:t>
              </a: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instead of 5. Both configurations always see the same rows.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457760" y="2447925"/>
            <a:ext cx="9276479" cy="293370"/>
            <a:chOff x="1457760" y="2447925"/>
            <a:chExt cx="9276479" cy="293370"/>
          </a:xfrm>
        </p:grpSpPr>
        <p:sp>
          <p:nvSpPr>
            <p:cNvPr id="19" name="TextBox 19"/>
            <p:cNvSpPr txBox="1"/>
            <p:nvPr/>
          </p:nvSpPr>
          <p:spPr>
            <a:xfrm>
              <a:off x="1457760" y="2447925"/>
              <a:ext cx="927647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i="1" dirty="0">
                  <a:solidFill>
                    <a:schemeClr val="accent6"/>
                  </a:solidFill>
                  <a:latin typeface="Cambria Math" panose="02040503050406030204"/>
                  <a:ea typeface="Cambria Math" panose="02040503050406030204"/>
                  <a:cs typeface="Cambria Math" panose="02040503050406030204"/>
                </a:rPr>
                <a:t>dᵢ = AUC_A(fold i) − AUC_B(fold i), mean Δ = (1/n) Σ dᵢ, Cohen's d = mean(d) / sd(d)</a:t>
              </a:r>
              <a:endParaRPr lang="el-GR" sz="1500" i="1" dirty="0">
                <a:solidFill>
                  <a:schemeClr val="accent6"/>
                </a:solidFill>
                <a:latin typeface="Cambria Math" panose="02040503050406030204"/>
                <a:ea typeface="Cambria Math" panose="02040503050406030204"/>
                <a:cs typeface="Cambria Math" panose="02040503050406030204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047750" y="2686050"/>
            <a:ext cx="10096500" cy="1533525"/>
            <a:chOff x="1047750" y="2686050"/>
            <a:chExt cx="10096500" cy="1533525"/>
          </a:xfrm>
        </p:grpSpPr>
        <p:sp>
          <p:nvSpPr>
            <p:cNvPr id="21" name="Rectangle 21"/>
            <p:cNvSpPr/>
            <p:nvPr/>
          </p:nvSpPr>
          <p:spPr>
            <a:xfrm>
              <a:off x="1047750" y="2686050"/>
              <a:ext cx="371475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762500" y="2686050"/>
              <a:ext cx="142875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91250" y="2686050"/>
              <a:ext cx="142875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620000" y="2686050"/>
              <a:ext cx="152400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144000" y="2686050"/>
              <a:ext cx="200025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66545" y="2786539"/>
              <a:ext cx="10771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Comparison</a:t>
              </a:r>
              <a:endParaRPr lang="en-GB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146432" y="2786539"/>
              <a:ext cx="6608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mean Δ</a:t>
              </a:r>
              <a:endParaRPr lang="el-GR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36145" y="2786539"/>
              <a:ext cx="9389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Cohen's d</a:t>
              </a:r>
              <a:endParaRPr lang="en-GB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711205" y="2786539"/>
              <a:ext cx="134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folds agreeing</a:t>
              </a:r>
              <a:endParaRPr lang="en-GB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85076" y="2786539"/>
              <a:ext cx="1180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</a:t>
              </a:r>
              <a:endParaRPr lang="en-GB" sz="12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1047750" y="26860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1047750" y="30670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1047750" y="34480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4288">
              <a:solidFill>
                <a:srgbClr val="E9DBD2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1047750" y="38290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4288">
              <a:solidFill>
                <a:srgbClr val="E9DBD2"/>
              </a:solidFill>
            </a:ln>
          </p:spPr>
        </p:sp>
        <p:sp>
          <p:nvSpPr>
            <p:cNvPr id="35" name="Line 35"/>
            <p:cNvSpPr/>
            <p:nvPr/>
          </p:nvSpPr>
          <p:spPr>
            <a:xfrm>
              <a:off x="1047750" y="42100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6" name="Line 36"/>
            <p:cNvSpPr/>
            <p:nvPr/>
          </p:nvSpPr>
          <p:spPr>
            <a:xfrm>
              <a:off x="4762500" y="30670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6191250" y="30670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7620000" y="30670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9144000" y="30670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1136523" y="3167539"/>
              <a:ext cx="9441937" cy="249364"/>
              <a:chOff x="1136523" y="3167539"/>
              <a:chExt cx="9441937" cy="249364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1136523" y="3167539"/>
                <a:ext cx="17437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L1 vs L2 (xgboost)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5049823" y="3167539"/>
                <a:ext cx="8541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+0.00039</a:t>
                </a:r>
                <a:endParaRPr lang="en-GB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698874" y="3167539"/>
                <a:ext cx="4135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3.42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8112663" y="3167539"/>
                <a:ext cx="5386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15/15</a:t>
                </a:r>
                <a:endParaRPr lang="en-GB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9709790" y="3167539"/>
                <a:ext cx="86867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&lt; 0.00001</a:t>
                </a:r>
                <a:endParaRPr lang="en-GB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1136523" y="3548539"/>
              <a:ext cx="9441937" cy="249364"/>
              <a:chOff x="1136523" y="3548539"/>
              <a:chExt cx="9441937" cy="249364"/>
            </a:xfrm>
          </p:grpSpPr>
          <p:sp>
            <p:nvSpPr>
              <p:cNvPr id="46" name="TextBox 46"/>
              <p:cNvSpPr txBox="1"/>
              <p:nvPr/>
            </p:nvSpPr>
            <p:spPr>
              <a:xfrm>
                <a:off x="1136523" y="3548539"/>
                <a:ext cx="1743775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L2 vs L3 (xgboost)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049823" y="3548539"/>
                <a:ext cx="8541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+0.01273</a:t>
                </a:r>
                <a:endParaRPr lang="en-GB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6698874" y="3548539"/>
                <a:ext cx="413502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7.74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8112663" y="3548539"/>
                <a:ext cx="5386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15/15</a:t>
                </a:r>
                <a:endParaRPr lang="en-GB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9709790" y="3548539"/>
                <a:ext cx="86867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&lt; 0.00001</a:t>
                </a:r>
                <a:endParaRPr lang="en-GB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1136523" y="3900964"/>
              <a:ext cx="9441937" cy="249364"/>
              <a:chOff x="1136523" y="3900964"/>
              <a:chExt cx="9441937" cy="249364"/>
            </a:xfrm>
          </p:grpSpPr>
          <p:sp>
            <p:nvSpPr>
              <p:cNvPr id="52" name="TextBox 52"/>
              <p:cNvSpPr txBox="1"/>
              <p:nvPr/>
            </p:nvSpPr>
            <p:spPr>
              <a:xfrm>
                <a:off x="1136523" y="3900964"/>
                <a:ext cx="260221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L3 vs L2 (</a:t>
                </a:r>
                <a:r>
                  <a:rPr lang="en-GB" sz="12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glmnet</a:t>
                </a:r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, opposite)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5049823" y="3900964"/>
                <a:ext cx="854104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+0.00617</a:t>
                </a:r>
                <a:endParaRPr lang="en-GB" sz="128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6648806" y="3900964"/>
                <a:ext cx="513639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21.46</a:t>
                </a:r>
                <a:endPara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8112663" y="3900964"/>
                <a:ext cx="538673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15/15</a:t>
                </a:r>
                <a:endParaRPr lang="en-GB" sz="128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709790" y="3900964"/>
                <a:ext cx="868670" cy="2493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80" dirty="0">
                    <a:solidFill>
                      <a:schemeClr val="accent6"/>
                    </a:solidFill>
                    <a:latin typeface="+mn-lt"/>
                    <a:ea typeface="+mn-ea"/>
                    <a:cs typeface="+mn-cs"/>
                  </a:rPr>
                  <a:t>&lt; 0.00001</a:t>
                </a:r>
                <a:endParaRPr lang="en-GB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1041654" y="4385310"/>
            <a:ext cx="8736198" cy="958596"/>
            <a:chOff x="1041654" y="4385310"/>
            <a:chExt cx="8736198" cy="958596"/>
          </a:xfrm>
        </p:grpSpPr>
        <p:sp>
          <p:nvSpPr>
            <p:cNvPr id="59" name="TextBox 59"/>
            <p:cNvSpPr txBox="1"/>
            <p:nvPr/>
          </p:nvSpPr>
          <p:spPr>
            <a:xfrm>
              <a:off x="1041654" y="4385310"/>
              <a:ext cx="7164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l-GR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mean Δ says how big the gap is; Cohen's d says how big it is against its own scatter</a:t>
              </a:r>
              <a:endParaRPr lang="el-GR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384554" y="4613910"/>
              <a:ext cx="70268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 unitless, and therefore comparable across pairs a raw AUC difference cannot be.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1654" y="4880610"/>
              <a:ext cx="873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Row 3 is page 7's sign reversal measured directly: the same pair of imputation lines, opposite winners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384554" y="5109210"/>
              <a:ext cx="50039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on the two families — both sides unanimous across </a:t>
              </a:r>
              <a:r>
                <a:rPr lang="en-GB" sz="120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15 folds</a:t>
              </a:r>
              <a:r>
                <a:rPr lang="en-GB" sz="120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  <a:endParaRPr lang="en-GB" sz="120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000036" y="6668452"/>
              <a:ext cx="21919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The Same Conclusion at n = 15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86592" y="66684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8/16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239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2 · Comparisons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248900" y="171450"/>
              <a:ext cx="1181100" cy="114300"/>
              <a:chOff x="10248900" y="171450"/>
              <a:chExt cx="11811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2489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6" name="Group 16"/>
          <p:cNvGrpSpPr/>
          <p:nvPr/>
        </p:nvGrpSpPr>
        <p:grpSpPr>
          <a:xfrm>
            <a:off x="750570" y="1128712"/>
            <a:ext cx="6611203" cy="725805"/>
            <a:chOff x="750570" y="1128712"/>
            <a:chExt cx="6611203" cy="725805"/>
          </a:xfrm>
        </p:grpSpPr>
        <p:sp>
          <p:nvSpPr>
            <p:cNvPr id="13" name="TextBox 13"/>
            <p:cNvSpPr txBox="1"/>
            <p:nvPr/>
          </p:nvSpPr>
          <p:spPr>
            <a:xfrm>
              <a:off x="750570" y="1128712"/>
              <a:ext cx="482346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How Important Is a Feature?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0570" y="1414462"/>
              <a:ext cx="661120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It Depends on What Else the Model Has.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77165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8" name="Group 38"/>
          <p:cNvGrpSpPr/>
          <p:nvPr/>
        </p:nvGrpSpPr>
        <p:grpSpPr>
          <a:xfrm>
            <a:off x="754380" y="2045018"/>
            <a:ext cx="4959096" cy="3635883"/>
            <a:chOff x="754380" y="2045018"/>
            <a:chExt cx="4959096" cy="3635883"/>
          </a:xfrm>
        </p:grpSpPr>
        <p:sp>
          <p:nvSpPr>
            <p:cNvPr id="17" name="TextBox 17"/>
            <p:cNvSpPr txBox="1"/>
            <p:nvPr/>
          </p:nvSpPr>
          <p:spPr>
            <a:xfrm>
              <a:off x="755142" y="2045018"/>
              <a:ext cx="37929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Removing notifications_per_day, at two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5142" y="2273618"/>
              <a:ext cx="22795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moments in the project: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62000" y="2609850"/>
              <a:ext cx="297180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8685" y="2678906"/>
              <a:ext cx="630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moment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42385" y="2678906"/>
              <a:ext cx="1583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cost of removing it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26098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62000" y="289560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62000" y="31813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3733800" y="28956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08685" y="2964656"/>
              <a:ext cx="24408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before the per-value encodings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506428" y="2964656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−0.00825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8685" y="3250406"/>
              <a:ext cx="23532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after the per-value encodings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06428" y="3250406"/>
              <a:ext cx="7474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−0.00022</a:t>
              </a:r>
              <a:endParaRPr lang="en-GB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54380" y="3571875"/>
              <a:ext cx="45009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Thirty-seven times smaller</a:t>
              </a:r>
              <a:r>
                <a:rPr lang="en-GB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— and nothing</a:t>
              </a:r>
              <a:endParaRPr lang="en-GB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4380" y="3800475"/>
              <a:ext cx="3610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5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about the column itself changed.</a:t>
              </a:r>
              <a:endParaRPr lang="en-GB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55142" y="4140518"/>
              <a:ext cx="45786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te_notifications_per_day</a:t>
              </a: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now carries the same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5142" y="4369118"/>
              <a:ext cx="43822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information by a second route, so deleting the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55142" y="4597718"/>
              <a:ext cx="49583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raw column stops meaning removing the information.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55142" y="4959668"/>
              <a:ext cx="406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Permutation importance (all 25 features):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55142" y="5188268"/>
              <a:ext cx="44105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top five are </a:t>
              </a:r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encoded columns</a:t>
              </a: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; the first is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5142" y="5416868"/>
              <a:ext cx="43500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ten times</a:t>
              </a: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 sixth — the highest raw column.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6090285" y="1980054"/>
            <a:ext cx="5263515" cy="3471580"/>
            <a:chOff x="6090285" y="1980054"/>
            <a:chExt cx="5263515" cy="3471580"/>
          </a:xfrm>
        </p:grpSpPr>
        <p:pic>
          <p:nvPicPr>
            <p:cNvPr id="39" name="Image 39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096000" y="1980054"/>
              <a:ext cx="5257800" cy="3107442"/>
            </a:xfrm>
            <a:prstGeom prst="rect">
              <a:avLst/>
            </a:prstGeom>
          </p:spPr>
        </p:pic>
        <p:sp>
          <p:nvSpPr>
            <p:cNvPr id="40" name="TextBox 40"/>
            <p:cNvSpPr txBox="1"/>
            <p:nvPr/>
          </p:nvSpPr>
          <p:spPr>
            <a:xfrm>
              <a:off x="6090285" y="5231606"/>
              <a:ext cx="5201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Permutation importance — the top five are the encoded columns</a:t>
              </a:r>
              <a:endParaRPr lang="en-GB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56666" y="5754052"/>
            <a:ext cx="8113761" cy="872109"/>
            <a:chOff x="756666" y="5754052"/>
            <a:chExt cx="8113761" cy="872109"/>
          </a:xfrm>
        </p:grpSpPr>
        <p:sp>
          <p:nvSpPr>
            <p:cNvPr id="42" name="TextBox 42"/>
            <p:cNvSpPr txBox="1"/>
            <p:nvPr/>
          </p:nvSpPr>
          <p:spPr>
            <a:xfrm>
              <a:off x="756666" y="5754052"/>
              <a:ext cx="76181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Ablation asks whether a column is </a:t>
              </a:r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indispensable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; permutation asks whether the fitted model </a:t>
              </a:r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used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it —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9566" y="5982652"/>
              <a:ext cx="5364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they diverge exactly when a second column carries the same information.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6666" y="6192202"/>
              <a:ext cx="8113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An ablation table is only meaningful together with the feature set it was measured on; quoted alone it will be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99566" y="6420802"/>
              <a:ext cx="36548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read as a property of the column, which it is not.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47" name="TextBox 47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023866" y="6668452"/>
              <a:ext cx="21442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How Important Is a Feature?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286592" y="6668452"/>
              <a:ext cx="339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9/16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239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2 · Comparisons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248900" y="171450"/>
              <a:ext cx="1181100" cy="114300"/>
              <a:chOff x="10248900" y="171450"/>
              <a:chExt cx="11811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2489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750570" y="1071562"/>
            <a:ext cx="4738849" cy="440055"/>
            <a:chOff x="750570" y="1071562"/>
            <a:chExt cx="4738849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750570" y="1071562"/>
              <a:ext cx="47388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What Tuning Actually Bought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52856" y="1729740"/>
            <a:ext cx="7053313" cy="1566291"/>
            <a:chOff x="752856" y="1729740"/>
            <a:chExt cx="7053313" cy="1566291"/>
          </a:xfrm>
        </p:grpSpPr>
        <p:sp>
          <p:nvSpPr>
            <p:cNvPr id="16" name="TextBox 16"/>
            <p:cNvSpPr txBox="1"/>
            <p:nvPr/>
          </p:nvSpPr>
          <p:spPr>
            <a:xfrm>
              <a:off x="752856" y="1729740"/>
              <a:ext cx="60104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Number of rounds — the one change that paid.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5523" y="2034064"/>
              <a:ext cx="70506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Early runs used fixed 600 rounds. Letting early stopping choose (near 1,158):</a:t>
              </a:r>
              <a:endParaRPr lang="en-GB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324100"/>
              <a:ext cx="2286000" cy="304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048000" y="2324100"/>
              <a:ext cx="1905000" cy="304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08304" y="2404110"/>
              <a:ext cx="65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setting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662523" y="2404110"/>
              <a:ext cx="675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CV AUC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762000" y="23241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62000" y="26289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762000" y="29337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" y="3238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3048000" y="26289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8304" y="2718435"/>
              <a:ext cx="13862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fixed 600 rounds</a:t>
              </a:r>
              <a:endParaRPr lang="en-GB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665830" y="2718435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0.95910</a:t>
              </a:r>
              <a:endParaRPr lang="en-GB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304" y="3061335"/>
              <a:ext cx="1257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early stopping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156966" y="3061335"/>
              <a:ext cx="1687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0.96088</a:t>
              </a:r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· </a:t>
              </a:r>
              <a:r>
                <a:rPr lang="en-GB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+0.00178</a:t>
              </a:r>
              <a:endParaRPr lang="en-GB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2856" y="3558540"/>
            <a:ext cx="7990164" cy="1566291"/>
            <a:chOff x="752856" y="3558540"/>
            <a:chExt cx="7990164" cy="1566291"/>
          </a:xfrm>
        </p:grpSpPr>
        <p:sp>
          <p:nvSpPr>
            <p:cNvPr id="32" name="TextBox 32"/>
            <p:cNvSpPr txBox="1"/>
            <p:nvPr/>
          </p:nvSpPr>
          <p:spPr>
            <a:xfrm>
              <a:off x="752856" y="3558540"/>
              <a:ext cx="602293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Grid search — 18 configurations in two stages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55523" y="3862864"/>
              <a:ext cx="79874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learning rate ∈ {0.03, 0.05, 0.1} × depth ∈ {4, 6, 8}, then min_child_weight × colsample.</a:t>
              </a:r>
              <a:endParaRPr lang="en-GB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4152900"/>
              <a:ext cx="2286000" cy="304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3048000" y="4152900"/>
              <a:ext cx="1905000" cy="3048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08304" y="4232910"/>
              <a:ext cx="6573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setting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62523" y="4232910"/>
              <a:ext cx="675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CV AUC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Line 38"/>
            <p:cNvSpPr/>
            <p:nvPr/>
          </p:nvSpPr>
          <p:spPr>
            <a:xfrm>
              <a:off x="762000" y="41529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762000" y="44577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62000" y="47625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762000" y="5067300"/>
              <a:ext cx="4191000" cy="9525"/>
            </a:xfrm>
            <a:custGeom>
              <a:avLst/>
              <a:gdLst/>
              <a:ahLst/>
              <a:cxnLst/>
              <a:rect l="l" t="t" r="r" b="b"/>
              <a:pathLst>
                <a:path w="4191000" h="9525">
                  <a:moveTo>
                    <a:pt x="0" y="0"/>
                  </a:moveTo>
                  <a:lnTo>
                    <a:pt x="4191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3048000" y="4457700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0" y="0"/>
                  </a:moveTo>
                  <a:lnTo>
                    <a:pt x="0" y="6096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908304" y="4547235"/>
              <a:ext cx="305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default: learning rate 0.05, depth 6</a:t>
              </a:r>
              <a:endParaRPr lang="en-GB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665830" y="4547235"/>
              <a:ext cx="669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0.96529</a:t>
              </a:r>
              <a:endParaRPr lang="en-GB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304" y="4890135"/>
              <a:ext cx="29514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best: learning rate 0.03, depth 4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156966" y="4890135"/>
              <a:ext cx="1687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0.96545</a:t>
              </a:r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· </a:t>
              </a:r>
              <a:r>
                <a:rPr lang="en-GB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+0.00016</a:t>
              </a:r>
              <a:endParaRPr lang="en-GB" sz="12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55523" y="5386864"/>
            <a:ext cx="9917303" cy="249364"/>
            <a:chOff x="755523" y="5386864"/>
            <a:chExt cx="9917303" cy="249364"/>
          </a:xfrm>
        </p:grpSpPr>
        <p:sp>
          <p:nvSpPr>
            <p:cNvPr id="48" name="TextBox 48"/>
            <p:cNvSpPr txBox="1"/>
            <p:nvPr/>
          </p:nvSpPr>
          <p:spPr>
            <a:xfrm>
              <a:off x="755523" y="5386864"/>
              <a:ext cx="991730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Stage two changed nothing. </a:t>
              </a:r>
              <a:r>
                <a:rPr lang="en-GB" sz="12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Depth 4 &gt; 6 &gt; 8</a:t>
              </a:r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at all three learning rates — the shallower tree wins consistently.</a:t>
              </a:r>
              <a:endParaRPr lang="en-GB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56285" y="5650706"/>
            <a:ext cx="10061190" cy="1134428"/>
            <a:chOff x="756285" y="5650706"/>
            <a:chExt cx="10061190" cy="1134428"/>
          </a:xfrm>
        </p:grpSpPr>
        <p:sp>
          <p:nvSpPr>
            <p:cNvPr id="50" name="TextBox 50"/>
            <p:cNvSpPr txBox="1"/>
            <p:nvPr/>
          </p:nvSpPr>
          <p:spPr>
            <a:xfrm>
              <a:off x="756285" y="5650706"/>
              <a:ext cx="9882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Shallow wins because the label is close to a monotone function of a few variables (page 4) — the search confirmed a property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99185" y="5879306"/>
              <a:ext cx="21063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already visible in the data.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56285" y="6107906"/>
              <a:ext cx="100611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Tuning was worth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4× more before the encodings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(+0.00067 → +0.00016): the encoding hands the model directly what it used to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99185" y="6336506"/>
              <a:ext cx="36994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approximate with more rounds and finer splits.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56285" y="6565106"/>
              <a:ext cx="9127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With tuned parameters: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L1 &gt; L2 &gt; L3 unchanged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— the grid’s conclusions do not depend on the hyper-parameters.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56" name="TextBox 56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42668" y="6668452"/>
              <a:ext cx="2106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What Tuning Actually Bought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204448" y="66684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10/16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2" name="Group 12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23949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2 · Comparisons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10248900" y="171450"/>
              <a:ext cx="1181100" cy="114300"/>
              <a:chOff x="10248900" y="171450"/>
              <a:chExt cx="11811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2489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</p:grpSp>
      <p:grpSp>
        <p:nvGrpSpPr>
          <p:cNvPr id="15" name="Group 15"/>
          <p:cNvGrpSpPr/>
          <p:nvPr/>
        </p:nvGrpSpPr>
        <p:grpSpPr>
          <a:xfrm>
            <a:off x="750570" y="1071562"/>
            <a:ext cx="5962402" cy="440055"/>
            <a:chOff x="750570" y="1071562"/>
            <a:chExt cx="5962402" cy="440055"/>
          </a:xfrm>
        </p:grpSpPr>
        <p:sp>
          <p:nvSpPr>
            <p:cNvPr id="13" name="TextBox 13"/>
            <p:cNvSpPr txBox="1"/>
            <p:nvPr/>
          </p:nvSpPr>
          <p:spPr>
            <a:xfrm>
              <a:off x="750570" y="1071562"/>
              <a:ext cx="596240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Ensembling in Rank Space, +0.00023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1409700"/>
              <a:ext cx="190500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55523" y="1767364"/>
            <a:ext cx="7862326" cy="249364"/>
            <a:chOff x="755523" y="1767364"/>
            <a:chExt cx="7862326" cy="249364"/>
          </a:xfrm>
        </p:grpSpPr>
        <p:sp>
          <p:nvSpPr>
            <p:cNvPr id="16" name="TextBox 16"/>
            <p:cNvSpPr txBox="1"/>
            <p:nvPr/>
          </p:nvSpPr>
          <p:spPr>
            <a:xfrm>
              <a:off x="755523" y="1767364"/>
              <a:ext cx="78623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 members · rank correlation between members: min </a:t>
              </a:r>
              <a:r>
                <a:rPr lang="en-GB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0.819</a:t>
              </a:r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median </a:t>
              </a:r>
              <a:r>
                <a:rPr lang="en-GB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0.929</a:t>
              </a:r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max </a:t>
              </a:r>
              <a:r>
                <a:rPr lang="en-GB" sz="128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0.997</a:t>
              </a:r>
              <a:r>
                <a:rPr lang="en-GB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  <a:endParaRPr lang="en-GB" sz="128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905000" y="2076450"/>
            <a:ext cx="8382000" cy="1619631"/>
            <a:chOff x="1905000" y="2076450"/>
            <a:chExt cx="8382000" cy="1619631"/>
          </a:xfrm>
        </p:grpSpPr>
        <p:sp>
          <p:nvSpPr>
            <p:cNvPr id="18" name="Rectangle 18"/>
            <p:cNvSpPr/>
            <p:nvPr/>
          </p:nvSpPr>
          <p:spPr>
            <a:xfrm>
              <a:off x="1905000" y="2076450"/>
              <a:ext cx="3429000" cy="3238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5334000" y="2076450"/>
              <a:ext cx="2476500" cy="3238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810500" y="2076450"/>
              <a:ext cx="2476500" cy="3238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46830" y="2156460"/>
              <a:ext cx="17453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Combination method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34273" y="2156460"/>
              <a:ext cx="675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CV AUC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42259" y="2156460"/>
              <a:ext cx="1212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vs best single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1905000" y="20764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1905000" y="240030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1905000" y="27241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1905000" y="304800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905000" y="3371850"/>
              <a:ext cx="8382000" cy="9525"/>
            </a:xfrm>
            <a:custGeom>
              <a:avLst/>
              <a:gdLst/>
              <a:ahLst/>
              <a:cxnLst/>
              <a:rect l="l" t="t" r="r" b="b"/>
              <a:pathLst>
                <a:path w="8382000" h="9525">
                  <a:moveTo>
                    <a:pt x="0" y="0"/>
                  </a:moveTo>
                  <a:lnTo>
                    <a:pt x="8382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5334000" y="2400300"/>
              <a:ext cx="9525" cy="971550"/>
            </a:xfrm>
            <a:custGeom>
              <a:avLst/>
              <a:gdLst/>
              <a:ahLst/>
              <a:cxnLst/>
              <a:rect l="l" t="t" r="r" b="b"/>
              <a:pathLst>
                <a:path w="9525" h="971550">
                  <a:moveTo>
                    <a:pt x="0" y="0"/>
                  </a:moveTo>
                  <a:lnTo>
                    <a:pt x="0" y="97155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810500" y="2400300"/>
              <a:ext cx="9525" cy="971550"/>
            </a:xfrm>
            <a:custGeom>
              <a:avLst/>
              <a:gdLst/>
              <a:ahLst/>
              <a:cxnLst/>
              <a:rect l="l" t="t" r="r" b="b"/>
              <a:pathLst>
                <a:path w="9525" h="971550">
                  <a:moveTo>
                    <a:pt x="0" y="0"/>
                  </a:moveTo>
                  <a:lnTo>
                    <a:pt x="0" y="97155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2051304" y="2489835"/>
              <a:ext cx="7397832" cy="234696"/>
              <a:chOff x="2051304" y="2489835"/>
              <a:chExt cx="7397832" cy="234696"/>
            </a:xfrm>
          </p:grpSpPr>
          <p:sp>
            <p:nvSpPr>
              <p:cNvPr id="31" name="TextBox 31"/>
              <p:cNvSpPr txBox="1"/>
              <p:nvPr/>
            </p:nvSpPr>
            <p:spPr>
              <a:xfrm>
                <a:off x="2051304" y="2489835"/>
                <a:ext cx="272186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2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Rank-space logistic regression</a:t>
                </a:r>
                <a:endPara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221151" y="2489835"/>
                <a:ext cx="7021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0.96807</a:t>
                </a:r>
                <a:endParaRPr lang="en-GB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8648365" y="2489835"/>
                <a:ext cx="80077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+0.00023</a:t>
                </a:r>
                <a:endParaRPr lang="en-GB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2051304" y="2813685"/>
              <a:ext cx="7379055" cy="234696"/>
              <a:chOff x="2051304" y="2813685"/>
              <a:chExt cx="7379055" cy="234696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2051304" y="2813685"/>
                <a:ext cx="98511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Hill climbing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6237580" y="2813685"/>
                <a:ext cx="6693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0.96802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8667140" y="2813685"/>
                <a:ext cx="7632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+0.00018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051304" y="3137535"/>
              <a:ext cx="7379055" cy="234696"/>
              <a:chOff x="2051304" y="3137535"/>
              <a:chExt cx="7379055" cy="234696"/>
            </a:xfrm>
          </p:grpSpPr>
          <p:sp>
            <p:nvSpPr>
              <p:cNvPr id="39" name="TextBox 39"/>
              <p:cNvSpPr txBox="1"/>
              <p:nvPr/>
            </p:nvSpPr>
            <p:spPr>
              <a:xfrm>
                <a:off x="2051304" y="3137535"/>
                <a:ext cx="33174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Logistic regression in probability space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237580" y="3137535"/>
                <a:ext cx="6693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0.96720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8667140" y="3137535"/>
                <a:ext cx="7632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−0.00064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6" name="Group 46"/>
            <p:cNvGrpSpPr/>
            <p:nvPr/>
          </p:nvGrpSpPr>
          <p:grpSpPr>
            <a:xfrm>
              <a:off x="2051304" y="3461385"/>
              <a:ext cx="7379055" cy="234696"/>
              <a:chOff x="2051304" y="3461385"/>
              <a:chExt cx="7379055" cy="234696"/>
            </a:xfrm>
          </p:grpSpPr>
          <p:sp>
            <p:nvSpPr>
              <p:cNvPr id="43" name="TextBox 43"/>
              <p:cNvSpPr txBox="1"/>
              <p:nvPr/>
            </p:nvSpPr>
            <p:spPr>
              <a:xfrm>
                <a:off x="2051304" y="3461385"/>
                <a:ext cx="126140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Rank averaging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237580" y="3461385"/>
                <a:ext cx="6693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0.96485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8667140" y="3461385"/>
                <a:ext cx="76321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2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−0.00299</a:t>
                </a:r>
                <a:endPara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1898142" y="3816668"/>
            <a:ext cx="7197471" cy="759333"/>
            <a:chOff x="1898142" y="3816668"/>
            <a:chExt cx="7197471" cy="759333"/>
          </a:xfrm>
        </p:grpSpPr>
        <p:sp>
          <p:nvSpPr>
            <p:cNvPr id="48" name="TextBox 48"/>
            <p:cNvSpPr txBox="1"/>
            <p:nvPr/>
          </p:nvSpPr>
          <p:spPr>
            <a:xfrm>
              <a:off x="1898142" y="3816668"/>
              <a:ext cx="16452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Why rank space.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98142" y="4064318"/>
              <a:ext cx="7197471" cy="5116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0"/>
                </a:lnSpc>
              </a:pP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AUC reads only the ordering — members don't share a scale, so averaging probabilities</a:t>
              </a:r>
              <a:b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GB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lets the wide member dominate. Ranking each member first removes the scale.</a:t>
              </a:r>
              <a:endParaRPr lang="en-GB" sz="13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899285" y="4755356"/>
            <a:ext cx="9298639" cy="1096328"/>
            <a:chOff x="1899285" y="4755356"/>
            <a:chExt cx="9298639" cy="1096328"/>
          </a:xfrm>
        </p:grpSpPr>
        <p:sp>
          <p:nvSpPr>
            <p:cNvPr id="51" name="TextBox 51"/>
            <p:cNvSpPr txBox="1"/>
            <p:nvPr/>
          </p:nvSpPr>
          <p:spPr>
            <a:xfrm>
              <a:off x="1899285" y="4755356"/>
              <a:ext cx="92986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Rank space beats probability space by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0.00087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the largest gap among the four methods — a zero-cost change applied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242185" y="4974431"/>
              <a:ext cx="23930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 predictions we already had.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899285" y="5193506"/>
              <a:ext cx="83728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Rank averaging falls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below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 best single model: it treats all members alike, and 8 of the 14 score under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242185" y="5412581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0.9550.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99285" y="5631656"/>
              <a:ext cx="82714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 ceiling is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member homogeneity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not the combination rule — page 15 says what to select for instead.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57" name="TextBox 57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174818" y="6668452"/>
              <a:ext cx="18423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Ensembling in Rank Space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1204448" y="66684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11/16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073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3 · Follow-ups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6935724" cy="440055"/>
            <a:chOff x="750570" y="1071562"/>
            <a:chExt cx="6935724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693572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Two Questions the Grid Could Not Answer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754761" y="1846421"/>
            <a:ext cx="10438096" cy="774002"/>
            <a:chOff x="754761" y="1846421"/>
            <a:chExt cx="10438096" cy="774002"/>
          </a:xfrm>
        </p:grpSpPr>
        <p:sp>
          <p:nvSpPr>
            <p:cNvPr id="15" name="TextBox 15"/>
            <p:cNvSpPr txBox="1"/>
            <p:nvPr/>
          </p:nvSpPr>
          <p:spPr>
            <a:xfrm>
              <a:off x="754761" y="1846421"/>
              <a:ext cx="986716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main grid ran on the full data, but virtually every other comparison — ablation, tuning, feature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4761" y="2094071"/>
              <a:ext cx="104380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pricing — ran on a </a:t>
              </a:r>
              <a:r>
                <a:rPr lang="en-GB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200,000-row subsample</a:t>
              </a:r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and the full data was used only for delivery. Two things were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54761" y="2341721"/>
              <a:ext cx="29028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assumed rather than tested: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43000" y="2781300"/>
            <a:ext cx="9906000" cy="876300"/>
            <a:chOff x="1143000" y="2781300"/>
            <a:chExt cx="9906000" cy="876300"/>
          </a:xfrm>
        </p:grpSpPr>
        <p:sp>
          <p:nvSpPr>
            <p:cNvPr id="19" name="Rectangle 19"/>
            <p:cNvSpPr/>
            <p:nvPr/>
          </p:nvSpPr>
          <p:spPr>
            <a:xfrm>
              <a:off x="1143000" y="2781300"/>
              <a:ext cx="9906000" cy="8763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514856" y="3120390"/>
              <a:ext cx="6222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Q1.</a:t>
              </a:r>
              <a:endParaRPr lang="en-GB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200656" y="3120390"/>
              <a:ext cx="81050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Does a choice made on the subsample survive on the full data?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43000" y="3924300"/>
            <a:ext cx="9906000" cy="1191673"/>
            <a:chOff x="1143000" y="3924300"/>
            <a:chExt cx="9906000" cy="1191673"/>
          </a:xfrm>
        </p:grpSpPr>
        <p:sp>
          <p:nvSpPr>
            <p:cNvPr id="23" name="Rectangle 23"/>
            <p:cNvSpPr/>
            <p:nvPr/>
          </p:nvSpPr>
          <p:spPr>
            <a:xfrm>
              <a:off x="1143000" y="3924300"/>
              <a:ext cx="9906000" cy="118110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514856" y="4206240"/>
              <a:ext cx="6222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Q2.</a:t>
              </a:r>
              <a:endParaRPr lang="en-GB" sz="180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200656" y="4206240"/>
              <a:ext cx="50260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 two preprocessing steps interact?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02561" y="4589621"/>
              <a:ext cx="745279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Imputation and per-value encoding were designed and measured separately.</a:t>
              </a:r>
              <a:endParaRPr lang="en-GB" sz="14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02561" y="4837271"/>
              <a:ext cx="360468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Nothing guaranteed they compose.</a:t>
              </a:r>
              <a:endParaRPr lang="en-GB" sz="14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29" name="TextBox 29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54474" y="6668452"/>
              <a:ext cx="30830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Two Questions the Grid Could Not Answer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204448" y="66684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12/16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073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3 · Follow-ups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8559870" cy="440055"/>
            <a:chOff x="750570" y="1071562"/>
            <a:chExt cx="8559870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855987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Selection Transfers Completely. Ranking Does Not.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755904" y="1775460"/>
            <a:ext cx="7806903" cy="463296"/>
            <a:chOff x="755904" y="1775460"/>
            <a:chExt cx="7806903" cy="463296"/>
          </a:xfrm>
        </p:grpSpPr>
        <p:sp>
          <p:nvSpPr>
            <p:cNvPr id="15" name="TextBox 15"/>
            <p:cNvSpPr txBox="1"/>
            <p:nvPr/>
          </p:nvSpPr>
          <p:spPr>
            <a:xfrm>
              <a:off x="755904" y="1775460"/>
              <a:ext cx="7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nested ladder — 50k ⊂ 100k ⊂ 200k ⊂ 400k ⊂ 691,369 — with the same 10 candidates, the same</a:t>
              </a:r>
              <a:endParaRPr lang="en-GB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5904" y="2004060"/>
              <a:ext cx="38953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25 features and the same folds at every level.</a:t>
              </a:r>
              <a:endParaRPr lang="en-GB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2247900"/>
            <a:ext cx="5012869" cy="1451134"/>
            <a:chOff x="762000" y="2247900"/>
            <a:chExt cx="5012869" cy="1451134"/>
          </a:xfrm>
        </p:grpSpPr>
        <p:sp>
          <p:nvSpPr>
            <p:cNvPr id="18" name="Rectangle 18"/>
            <p:cNvSpPr/>
            <p:nvPr/>
          </p:nvSpPr>
          <p:spPr>
            <a:xfrm>
              <a:off x="762000" y="2247900"/>
              <a:ext cx="142875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190750" y="2247900"/>
              <a:ext cx="104775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238500" y="2247900"/>
              <a:ext cx="123825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76750" y="2247900"/>
              <a:ext cx="123825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269931" y="2316956"/>
              <a:ext cx="412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rows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42235" y="2316956"/>
              <a:ext cx="9447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Spearman ρ</a:t>
              </a:r>
              <a:endParaRPr lang="el-GR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80089" y="2316956"/>
              <a:ext cx="5550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winner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416881" y="2316956"/>
              <a:ext cx="13579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selection regret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22479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62000" y="25336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62000" y="28194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62000" y="31051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62000" y="33909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762000" y="36766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190750" y="25336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3238500" y="25336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4" name="Line 34"/>
            <p:cNvSpPr/>
            <p:nvPr/>
          </p:nvSpPr>
          <p:spPr>
            <a:xfrm>
              <a:off x="4476750" y="2533650"/>
              <a:ext cx="9525" cy="1143000"/>
            </a:xfrm>
            <a:custGeom>
              <a:avLst/>
              <a:gdLst/>
              <a:ahLst/>
              <a:cxnLst/>
              <a:rect l="l" t="t" r="r" b="b"/>
              <a:pathLst>
                <a:path w="9525" h="1143000">
                  <a:moveTo>
                    <a:pt x="0" y="0"/>
                  </a:moveTo>
                  <a:lnTo>
                    <a:pt x="0" y="11430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207800" y="2621756"/>
              <a:ext cx="4215793" cy="220028"/>
              <a:chOff x="1207800" y="2621756"/>
              <a:chExt cx="4215793" cy="220028"/>
            </a:xfrm>
          </p:grpSpPr>
          <p:sp>
            <p:nvSpPr>
              <p:cNvPr id="35" name="TextBox 35"/>
              <p:cNvSpPr txBox="1"/>
              <p:nvPr/>
            </p:nvSpPr>
            <p:spPr>
              <a:xfrm>
                <a:off x="1207800" y="2621756"/>
                <a:ext cx="5371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50,000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2446050" y="2621756"/>
                <a:ext cx="5371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+0.903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3295752" y="2621756"/>
                <a:ext cx="11237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L1_xgboost ✓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768157" y="2621756"/>
                <a:ext cx="6554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0.00000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4" name="Group 44"/>
            <p:cNvGrpSpPr/>
            <p:nvPr/>
          </p:nvGrpSpPr>
          <p:grpSpPr>
            <a:xfrm>
              <a:off x="1163991" y="2907506"/>
              <a:ext cx="4259602" cy="220028"/>
              <a:chOff x="1163991" y="2907506"/>
              <a:chExt cx="4259602" cy="220028"/>
            </a:xfrm>
          </p:grpSpPr>
          <p:sp>
            <p:nvSpPr>
              <p:cNvPr id="40" name="TextBox 40"/>
              <p:cNvSpPr txBox="1"/>
              <p:nvPr/>
            </p:nvSpPr>
            <p:spPr>
              <a:xfrm>
                <a:off x="1163991" y="2907506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100,000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2446050" y="2907506"/>
                <a:ext cx="5371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+0.927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3295752" y="2907506"/>
                <a:ext cx="11237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L1_xgboost ✓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4768157" y="2907506"/>
                <a:ext cx="6554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0.00000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1077566" y="3193256"/>
              <a:ext cx="4346027" cy="220028"/>
              <a:chOff x="1077566" y="3193256"/>
              <a:chExt cx="4346027" cy="220028"/>
            </a:xfrm>
          </p:grpSpPr>
          <p:sp>
            <p:nvSpPr>
              <p:cNvPr id="45" name="TextBox 45"/>
              <p:cNvSpPr txBox="1"/>
              <p:nvPr/>
            </p:nvSpPr>
            <p:spPr>
              <a:xfrm>
                <a:off x="1077566" y="3193256"/>
                <a:ext cx="79761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200,000 ←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2432908" y="3193256"/>
                <a:ext cx="56343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+0.964</a:t>
                </a:r>
                <a:endParaRPr lang="en-GB" sz="112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3295752" y="3193256"/>
                <a:ext cx="11237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L1_xgboost ✓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4768157" y="3193256"/>
                <a:ext cx="6554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0.00000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1163991" y="3479006"/>
              <a:ext cx="4259602" cy="220028"/>
              <a:chOff x="1163991" y="3479006"/>
              <a:chExt cx="4259602" cy="220028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1163991" y="3479006"/>
                <a:ext cx="62476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400,000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2446050" y="3479006"/>
                <a:ext cx="537149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+0.988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295752" y="3479006"/>
                <a:ext cx="11237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L1_xgboost ✓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4768157" y="3479006"/>
                <a:ext cx="65543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0.00000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57" name="Group 57"/>
          <p:cNvGrpSpPr/>
          <p:nvPr/>
        </p:nvGrpSpPr>
        <p:grpSpPr>
          <a:xfrm>
            <a:off x="755904" y="3909060"/>
            <a:ext cx="5402946" cy="234696"/>
            <a:chOff x="755904" y="3909060"/>
            <a:chExt cx="5402946" cy="234696"/>
          </a:xfrm>
        </p:grpSpPr>
        <p:sp>
          <p:nvSpPr>
            <p:cNvPr id="56" name="TextBox 56"/>
            <p:cNvSpPr txBox="1"/>
            <p:nvPr/>
          </p:nvSpPr>
          <p:spPr>
            <a:xfrm>
              <a:off x="755904" y="3909060"/>
              <a:ext cx="54029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top-5 </a:t>
              </a:r>
              <a:r>
                <a:rPr lang="en-GB" sz="1200" b="1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set</a:t>
              </a:r>
              <a:r>
                <a:rPr lang="en-GB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is identical to the full-data set at every level.</a:t>
              </a:r>
              <a:endParaRPr lang="en-GB" sz="1200" b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661785" y="2247900"/>
            <a:ext cx="4768215" cy="2251234"/>
            <a:chOff x="6661785" y="2247900"/>
            <a:chExt cx="4768215" cy="2251234"/>
          </a:xfrm>
        </p:grpSpPr>
        <p:pic>
          <p:nvPicPr>
            <p:cNvPr id="58" name="Image 58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667500" y="2247900"/>
              <a:ext cx="4762500" cy="1962150"/>
            </a:xfrm>
            <a:prstGeom prst="rect">
              <a:avLst/>
            </a:prstGeom>
          </p:spPr>
        </p:pic>
        <p:sp>
          <p:nvSpPr>
            <p:cNvPr id="59" name="TextBox 59"/>
            <p:cNvSpPr txBox="1"/>
            <p:nvPr/>
          </p:nvSpPr>
          <p:spPr>
            <a:xfrm>
              <a:off x="6661785" y="4279106"/>
              <a:ext cx="41422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AUC across the ladder — the three L3 rows decline</a:t>
              </a:r>
              <a:endParaRPr lang="en-GB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6285" y="4774406"/>
            <a:ext cx="13180015" cy="1077278"/>
            <a:chOff x="756285" y="4774406"/>
            <a:chExt cx="13180015" cy="1077278"/>
          </a:xfrm>
        </p:grpSpPr>
        <p:sp>
          <p:nvSpPr>
            <p:cNvPr id="61" name="TextBox 61"/>
            <p:cNvSpPr txBox="1"/>
            <p:nvPr/>
          </p:nvSpPr>
          <p:spPr>
            <a:xfrm>
              <a:off x="756285" y="4774406"/>
              <a:ext cx="1318001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Selection regret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is what screening on this sample costs against picking on the full data — and it is exactly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zero everywhere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: 50k (7.2% of the data) already finds the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099185" y="4993481"/>
              <a:ext cx="13735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full-data winner.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56285" y="5193506"/>
              <a:ext cx="109741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 ranking does not fully transfer, and the deviations are not noise: </a:t>
              </a:r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all six real misrankings involve an L3 cell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; the only top-5 inversion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99185" y="5412581"/>
              <a:ext cx="44242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(ranks 2–3) sits below that pair's own resolution floor.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56285" y="5631656"/>
              <a:ext cx="2062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12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 next page says why.</a:t>
              </a:r>
              <a:endParaRPr lang="en-GB" sz="112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67" name="TextBox 67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29530" y="6668452"/>
              <a:ext cx="23329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Selection Transfers Completely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1204448" y="66684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13/16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073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3 · Follow-ups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noFill/>
              <a:ln w="14288">
                <a:solidFill>
                  <a:srgbClr val="FFFFFF"/>
                </a:solidFill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6135263" cy="440055"/>
            <a:chOff x="750570" y="1071562"/>
            <a:chExt cx="6135263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613526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Imputation Can Destroy the Encoding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755904" y="1756410"/>
            <a:ext cx="7595189" cy="234696"/>
            <a:chOff x="755904" y="1756410"/>
            <a:chExt cx="7595189" cy="234696"/>
          </a:xfrm>
        </p:grpSpPr>
        <p:sp>
          <p:nvSpPr>
            <p:cNvPr id="15" name="TextBox 15"/>
            <p:cNvSpPr txBox="1"/>
            <p:nvPr/>
          </p:nvSpPr>
          <p:spPr>
            <a:xfrm>
              <a:off x="755904" y="1756410"/>
              <a:ext cx="75951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encoding is keyed on </a:t>
              </a:r>
              <a:r>
                <a:rPr lang="en-GB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exact values</a:t>
              </a:r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and the data sits on the generator's </a:t>
              </a:r>
              <a:r>
                <a:rPr lang="en-GB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0.01 lattice</a:t>
              </a:r>
              <a:r>
                <a:rPr lang="en-GB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  <a:endParaRPr lang="en-GB" sz="120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01333" y="2004060"/>
            <a:ext cx="4727917" cy="1250251"/>
            <a:chOff x="701333" y="2004060"/>
            <a:chExt cx="4727917" cy="1250251"/>
          </a:xfrm>
        </p:grpSpPr>
        <p:sp>
          <p:nvSpPr>
            <p:cNvPr id="17" name="TextBox 17"/>
            <p:cNvSpPr txBox="1"/>
            <p:nvPr/>
          </p:nvSpPr>
          <p:spPr>
            <a:xfrm>
              <a:off x="755904" y="2004060"/>
              <a:ext cx="2852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lookup hit rate for imputed cells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62000" y="2209800"/>
              <a:ext cx="95250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714500" y="2209800"/>
              <a:ext cx="257175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86250" y="2209800"/>
              <a:ext cx="114300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108887" y="2275999"/>
              <a:ext cx="2587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line</a:t>
              </a:r>
              <a:endParaRPr lang="en-GB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83145" y="2275999"/>
              <a:ext cx="10344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what it fills in</a:t>
              </a:r>
              <a:endParaRPr lang="en-GB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567385" y="2275999"/>
              <a:ext cx="5807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hit rate</a:t>
              </a:r>
              <a:endParaRPr lang="en-GB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Line 24"/>
            <p:cNvSpPr/>
            <p:nvPr/>
          </p:nvSpPr>
          <p:spPr>
            <a:xfrm>
              <a:off x="762000" y="22098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762000" y="24574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762000" y="270510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62000" y="2952750"/>
              <a:ext cx="4667250" cy="9525"/>
            </a:xfrm>
            <a:custGeom>
              <a:avLst/>
              <a:gdLst/>
              <a:ahLst/>
              <a:cxnLst/>
              <a:rect l="l" t="t" r="r" b="b"/>
              <a:pathLst>
                <a:path w="4667250" h="9525">
                  <a:moveTo>
                    <a:pt x="0" y="0"/>
                  </a:moveTo>
                  <a:lnTo>
                    <a:pt x="466725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1714500" y="24574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4286250" y="24574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57149" y="2553652"/>
              <a:ext cx="7622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L2 median</a:t>
              </a:r>
              <a:endParaRPr lang="en-GB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013966" y="2553652"/>
              <a:ext cx="207919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observed median — on lattice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34856" y="2553652"/>
              <a:ext cx="645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100.00%</a:t>
              </a:r>
              <a:endParaRPr lang="en-GB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01333" y="2801302"/>
              <a:ext cx="10738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L3 regression</a:t>
              </a:r>
              <a:endParaRPr lang="en-GB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013966" y="2801302"/>
              <a:ext cx="2579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arbitrary real number — off lattice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577982" y="2801302"/>
              <a:ext cx="5595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b="1" dirty="0">
                  <a:solidFill>
                    <a:srgbClr val="C00000"/>
                  </a:solidFill>
                  <a:latin typeface="+mn-lt"/>
                  <a:ea typeface="+mn-ea"/>
                  <a:cs typeface="+mn-cs"/>
                </a:rPr>
                <a:t>0.045%</a:t>
              </a:r>
              <a:endParaRPr lang="en-GB" sz="1050" b="1" dirty="0">
                <a:solidFill>
                  <a:srgbClr val="C00000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4435" y="3048952"/>
              <a:ext cx="6676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L4 PMM</a:t>
              </a:r>
              <a:endParaRPr lang="en-GB" sz="10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013966" y="3048952"/>
              <a:ext cx="20567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real donor value — on lattice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534856" y="3048952"/>
              <a:ext cx="64578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99.999%</a:t>
              </a:r>
              <a:endParaRPr lang="en-GB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6089904" y="2004060"/>
            <a:ext cx="5340096" cy="1250251"/>
            <a:chOff x="6089904" y="2004060"/>
            <a:chExt cx="5340096" cy="1250251"/>
          </a:xfrm>
        </p:grpSpPr>
        <p:sp>
          <p:nvSpPr>
            <p:cNvPr id="40" name="TextBox 40"/>
            <p:cNvSpPr txBox="1"/>
            <p:nvPr/>
          </p:nvSpPr>
          <p:spPr>
            <a:xfrm>
              <a:off x="6089904" y="2004060"/>
              <a:ext cx="4098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verification — one variable at a time (xgboost)</a:t>
              </a:r>
              <a:endParaRPr lang="en-GB" sz="12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096000" y="2209800"/>
              <a:ext cx="219075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8286750" y="2209800"/>
              <a:ext cx="76200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9048750" y="2209800"/>
              <a:ext cx="76200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9810750" y="2209800"/>
              <a:ext cx="1619250" cy="2476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60760" y="2275999"/>
              <a:ext cx="66123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condition</a:t>
              </a:r>
              <a:endParaRPr lang="en-GB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565046" y="2275999"/>
              <a:ext cx="205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L3</a:t>
              </a:r>
              <a:endParaRPr lang="en-GB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327046" y="2275999"/>
              <a:ext cx="205408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L4</a:t>
              </a:r>
              <a:endParaRPr lang="en-GB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77579" y="2275999"/>
              <a:ext cx="48559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98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winner</a:t>
              </a:r>
              <a:endParaRPr lang="en-GB" sz="98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Line 49"/>
            <p:cNvSpPr/>
            <p:nvPr/>
          </p:nvSpPr>
          <p:spPr>
            <a:xfrm>
              <a:off x="6096000" y="22098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6096000" y="24574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6096000" y="270510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6096000" y="2952750"/>
              <a:ext cx="5334000" cy="9525"/>
            </a:xfrm>
            <a:custGeom>
              <a:avLst/>
              <a:gdLst/>
              <a:ahLst/>
              <a:cxnLst/>
              <a:rect l="l" t="t" r="r" b="b"/>
              <a:pathLst>
                <a:path w="5334000" h="9525">
                  <a:moveTo>
                    <a:pt x="0" y="0"/>
                  </a:moveTo>
                  <a:lnTo>
                    <a:pt x="5334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8286750" y="24574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9048750" y="24574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9810750" y="245745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185916" y="2553652"/>
              <a:ext cx="12950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200k, no encoding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374913" y="25536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0.95951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9136913" y="25536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0.95791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10082974" y="2553652"/>
              <a:ext cx="1074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L3 by 0.00160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185916" y="2801302"/>
              <a:ext cx="14519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200k, with encoding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374913" y="280130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0.95297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36913" y="280130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0.95221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82974" y="2801302"/>
              <a:ext cx="10748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L3 by 0.00076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185916" y="3048952"/>
              <a:ext cx="13899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full</a:t>
              </a:r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with encoding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374913" y="3048952"/>
              <a:ext cx="5856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0.94770</a:t>
              </a:r>
              <a:endParaRPr lang="en-GB" sz="105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9122538" y="3048952"/>
              <a:ext cx="614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0.95443</a:t>
              </a:r>
              <a:endParaRPr lang="en-GB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0056371" y="3048952"/>
              <a:ext cx="11280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L4 by 0.00673</a:t>
              </a:r>
              <a:endParaRPr lang="en-GB" sz="105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0" name="Group 70"/>
          <p:cNvGrpSpPr/>
          <p:nvPr/>
        </p:nvGrpSpPr>
        <p:grpSpPr>
          <a:xfrm>
            <a:off x="756666" y="3315652"/>
            <a:ext cx="9300362" cy="205359"/>
            <a:chOff x="756666" y="3315652"/>
            <a:chExt cx="9300362" cy="205359"/>
          </a:xfrm>
        </p:grpSpPr>
        <p:sp>
          <p:nvSpPr>
            <p:cNvPr id="69" name="TextBox 69"/>
            <p:cNvSpPr txBox="1"/>
            <p:nvPr/>
          </p:nvSpPr>
          <p:spPr>
            <a:xfrm>
              <a:off x="756666" y="3315652"/>
              <a:ext cx="93003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≥ 61% of rows miss at least one column — an </a:t>
              </a:r>
              <a:r>
                <a:rPr lang="en-GB" sz="1050" i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upper bound</a:t>
              </a:r>
              <a:r>
                <a:rPr lang="en-GB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, since the eight encoded columns are a subset of the twelve features.</a:t>
              </a:r>
              <a:endParaRPr lang="en-GB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2286000" y="3505200"/>
            <a:ext cx="7620000" cy="632651"/>
            <a:chOff x="2286000" y="3505200"/>
            <a:chExt cx="7620000" cy="632651"/>
          </a:xfrm>
        </p:grpSpPr>
        <p:sp>
          <p:nvSpPr>
            <p:cNvPr id="71" name="Rectangle 71"/>
            <p:cNvSpPr/>
            <p:nvPr/>
          </p:nvSpPr>
          <p:spPr>
            <a:xfrm>
              <a:off x="2286000" y="3505200"/>
              <a:ext cx="7620000" cy="628650"/>
            </a:xfrm>
            <a:prstGeom prst="rect">
              <a:avLst/>
            </a:prstGeom>
            <a:solidFill>
              <a:schemeClr val="lt1"/>
            </a:solidFill>
            <a:ln w="14288">
              <a:solidFill>
                <a:schemeClr val="accent3"/>
              </a:solidFill>
              <a:custDash>
                <a:ds d="400000" sp="266667"/>
              </a:custDash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2800195" y="3607118"/>
              <a:ext cx="6591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With per-value encoding in the pipeline, an imputer must fill values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4995325" y="3873818"/>
              <a:ext cx="2201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back onto the </a:t>
              </a:r>
              <a:r>
                <a:rPr lang="en-GB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lattice</a:t>
              </a:r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.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005943" y="4248150"/>
            <a:ext cx="4180114" cy="1828800"/>
            <a:chOff x="4005943" y="4248150"/>
            <a:chExt cx="4180114" cy="1828800"/>
          </a:xfrm>
        </p:grpSpPr>
        <p:pic>
          <p:nvPicPr>
            <p:cNvPr id="75" name="Image 75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005943" y="4248150"/>
              <a:ext cx="4180114" cy="1828800"/>
            </a:xfrm>
            <a:prstGeom prst="rect">
              <a:avLst/>
            </a:prstGeom>
          </p:spPr>
        </p:pic>
      </p:grpSp>
      <p:grpSp>
        <p:nvGrpSpPr>
          <p:cNvPr id="79" name="Group 79"/>
          <p:cNvGrpSpPr/>
          <p:nvPr/>
        </p:nvGrpSpPr>
        <p:grpSpPr>
          <a:xfrm>
            <a:off x="756666" y="6192202"/>
            <a:ext cx="9956145" cy="453009"/>
            <a:chOff x="756666" y="6192202"/>
            <a:chExt cx="9956145" cy="453009"/>
          </a:xfrm>
        </p:grpSpPr>
        <p:sp>
          <p:nvSpPr>
            <p:cNvPr id="77" name="TextBox 77"/>
            <p:cNvSpPr txBox="1"/>
            <p:nvPr/>
          </p:nvSpPr>
          <p:spPr>
            <a:xfrm>
              <a:off x="756666" y="6192202"/>
              <a:ext cx="995614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Orthogonal to which imputer is statistically more accurate — L3 estimates better, yet produces something the next step cannot use.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756666" y="6439852"/>
              <a:ext cx="8716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Encoding </a:t>
              </a:r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halves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L3's lead; the reversal also needs the full data — the last row alone would over-credit the encoding.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80" name="TextBox 80"/>
            <p:cNvSpPr txBox="1"/>
            <p:nvPr/>
          </p:nvSpPr>
          <p:spPr>
            <a:xfrm>
              <a:off x="11204448" y="66684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14/16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4732354" y="6668452"/>
              <a:ext cx="27272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Imputation Can Destroy the Encoding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073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3 · Follow-ups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5156862" cy="440055"/>
            <a:chOff x="750570" y="1071562"/>
            <a:chExt cx="5156862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515686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One Sentence Covers All Three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838724" y="1676400"/>
            <a:ext cx="10514551" cy="419100"/>
            <a:chOff x="838724" y="1676400"/>
            <a:chExt cx="10514551" cy="419100"/>
          </a:xfrm>
        </p:grpSpPr>
        <p:sp>
          <p:nvSpPr>
            <p:cNvPr id="15" name="Rectangle 15"/>
            <p:cNvSpPr/>
            <p:nvPr/>
          </p:nvSpPr>
          <p:spPr>
            <a:xfrm>
              <a:off x="1143000" y="1676400"/>
              <a:ext cx="9906000" cy="41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38724" y="1816418"/>
              <a:ext cx="105145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The value of a preprocessing step equals how hard the downstream model finds it to construct on its own.</a:t>
              </a:r>
              <a:endParaRPr lang="en-GB" sz="135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2247900"/>
            <a:ext cx="10668000" cy="2828925"/>
            <a:chOff x="762000" y="2247900"/>
            <a:chExt cx="10668000" cy="2828925"/>
          </a:xfrm>
        </p:grpSpPr>
        <p:sp>
          <p:nvSpPr>
            <p:cNvPr id="18" name="Rectangle 18"/>
            <p:cNvSpPr/>
            <p:nvPr/>
          </p:nvSpPr>
          <p:spPr>
            <a:xfrm>
              <a:off x="762000" y="2247900"/>
              <a:ext cx="28575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3619500" y="2247900"/>
              <a:ext cx="36195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239000" y="2247900"/>
              <a:ext cx="20955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9334500" y="2247900"/>
              <a:ext cx="2095500" cy="3048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398846" y="2336006"/>
              <a:ext cx="15838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preprocessing step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256797" y="2336006"/>
              <a:ext cx="23449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can the model build it itself?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310844" y="2336006"/>
              <a:ext cx="195181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gradient-boosted trees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502527" y="2336006"/>
              <a:ext cx="17594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linear model (glmnet)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762000" y="2247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7" name="Line 27"/>
            <p:cNvSpPr/>
            <p:nvPr/>
          </p:nvSpPr>
          <p:spPr>
            <a:xfrm>
              <a:off x="762000" y="25527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8" name="Line 28"/>
            <p:cNvSpPr/>
            <p:nvPr/>
          </p:nvSpPr>
          <p:spPr>
            <a:xfrm>
              <a:off x="762000" y="33909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9" name="Line 29"/>
            <p:cNvSpPr/>
            <p:nvPr/>
          </p:nvSpPr>
          <p:spPr>
            <a:xfrm>
              <a:off x="762000" y="42291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30" name="Line 30"/>
            <p:cNvSpPr/>
            <p:nvPr/>
          </p:nvSpPr>
          <p:spPr>
            <a:xfrm>
              <a:off x="762000" y="50673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3619500" y="255270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7239000" y="255270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33" name="Line 33"/>
            <p:cNvSpPr/>
            <p:nvPr/>
          </p:nvSpPr>
          <p:spPr>
            <a:xfrm>
              <a:off x="9334500" y="2552700"/>
              <a:ext cx="9525" cy="2514600"/>
            </a:xfrm>
            <a:custGeom>
              <a:avLst/>
              <a:gdLst/>
              <a:ahLst/>
              <a:cxnLst/>
              <a:rect l="l" t="t" r="r" b="b"/>
              <a:pathLst>
                <a:path w="9525" h="2514600">
                  <a:moveTo>
                    <a:pt x="0" y="0"/>
                  </a:moveTo>
                  <a:lnTo>
                    <a:pt x="0" y="25146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908685" y="2850356"/>
              <a:ext cx="10443948" cy="467678"/>
              <a:chOff x="908685" y="2850356"/>
              <a:chExt cx="10443948" cy="467678"/>
            </a:xfrm>
          </p:grpSpPr>
          <p:sp>
            <p:nvSpPr>
              <p:cNvPr id="34" name="TextBox 34"/>
              <p:cNvSpPr txBox="1"/>
              <p:nvPr/>
            </p:nvSpPr>
            <p:spPr>
              <a:xfrm>
                <a:off x="908685" y="2850356"/>
                <a:ext cx="184846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Imputation (L2 vs L3)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3766185" y="2850356"/>
                <a:ext cx="299654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GBDT represents "unknown" natively;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3766185" y="3098006"/>
                <a:ext cx="110269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glmnet cannot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7328535" y="2850356"/>
                <a:ext cx="19285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L2 beats L3: +0.01273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7328535" y="3098006"/>
                <a:ext cx="12062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(n = 15, 15/15)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424035" y="2850356"/>
                <a:ext cx="19285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L3 beats L2: +0.00617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424035" y="3098006"/>
                <a:ext cx="1206246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(n = 15, 15/15)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908685" y="3688556"/>
              <a:ext cx="9705665" cy="467678"/>
              <a:chOff x="908685" y="3688556"/>
              <a:chExt cx="9705665" cy="467678"/>
            </a:xfrm>
          </p:grpSpPr>
          <p:sp>
            <p:nvSpPr>
              <p:cNvPr id="42" name="TextBox 42"/>
              <p:cNvSpPr txBox="1"/>
              <p:nvPr/>
            </p:nvSpPr>
            <p:spPr>
              <a:xfrm>
                <a:off x="908685" y="3688556"/>
                <a:ext cx="110110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Derived ratio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908685" y="3936206"/>
                <a:ext cx="747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features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3766185" y="3688556"/>
                <a:ext cx="261971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GBDT approximates a two-column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3766185" y="3936206"/>
                <a:ext cx="20904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ratio with staircase splits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7328535" y="3688556"/>
                <a:ext cx="133369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ratios absorbed;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7328535" y="3936206"/>
                <a:ext cx="261334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four-term slack +0.00064</a:t>
                </a:r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 (5/5)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48" name="TextBox 48"/>
              <p:cNvSpPr txBox="1"/>
              <p:nvPr/>
            </p:nvSpPr>
            <p:spPr>
              <a:xfrm>
                <a:off x="9424035" y="3688556"/>
                <a:ext cx="11903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— not measured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08685" y="4526756"/>
              <a:ext cx="9262787" cy="467678"/>
              <a:chOff x="908685" y="4526756"/>
              <a:chExt cx="9262787" cy="467678"/>
            </a:xfrm>
          </p:grpSpPr>
          <p:sp>
            <p:nvSpPr>
              <p:cNvPr id="50" name="TextBox 50"/>
              <p:cNvSpPr txBox="1"/>
              <p:nvPr/>
            </p:nvSpPr>
            <p:spPr>
              <a:xfrm>
                <a:off x="908685" y="4526756"/>
                <a:ext cx="1378598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Per-value lookup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08685" y="4774406"/>
                <a:ext cx="458291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(TE)</a:t>
                </a:r>
                <a:endPara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766185" y="4526756"/>
                <a:ext cx="2982833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GBDT approximates with thousands of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3766185" y="4774406"/>
                <a:ext cx="3356915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splits; glmnet needs a parameter per value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328535" y="4526756"/>
                <a:ext cx="747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+0.00424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424035" y="4526756"/>
                <a:ext cx="747437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+0.03352</a:t>
                </a:r>
                <a:endPara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9424035" y="4774406"/>
                <a:ext cx="497322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GB" sz="112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(≈ 8×)</a:t>
                </a:r>
                <a:endPara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63" name="Group 63"/>
          <p:cNvGrpSpPr/>
          <p:nvPr/>
        </p:nvGrpSpPr>
        <p:grpSpPr>
          <a:xfrm>
            <a:off x="756666" y="5334952"/>
            <a:ext cx="10376858" cy="948309"/>
            <a:chOff x="756666" y="5334952"/>
            <a:chExt cx="10376858" cy="948309"/>
          </a:xfrm>
        </p:grpSpPr>
        <p:sp>
          <p:nvSpPr>
            <p:cNvPr id="59" name="TextBox 59"/>
            <p:cNvSpPr txBox="1"/>
            <p:nvPr/>
          </p:nvSpPr>
          <p:spPr>
            <a:xfrm>
              <a:off x="756666" y="5334952"/>
              <a:ext cx="10376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What the model can already build, we only duplicate as a redundant column; what it cannot build is the only place new information can enter.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56666" y="5582602"/>
              <a:ext cx="10247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"Can it build it" is a property of the model's </a:t>
              </a:r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expressiveness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, not of the data — hence opposite signs, or an eightfold difference in value.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6666" y="5830252"/>
              <a:ext cx="6911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 linear model can pay for exact-value lookup — one-hot reaches </a:t>
              </a:r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0.95929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— but not for free.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6666" y="6077902"/>
              <a:ext cx="93100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And that answers page 11: choose ensemble members whose preprocessing needs differ, not members whose scores are high.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67" name="Group 67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64" name="TextBox 64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4949777" y="6668452"/>
              <a:ext cx="2292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One Sentence Covers All Three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204448" y="66684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15/16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4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457200"/>
            <a:ext cx="12192000" cy="190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</p:sp>
      <p:sp>
        <p:nvSpPr>
          <p:cNvPr id="4" name="Rectangle 4"/>
          <p:cNvSpPr/>
          <p:nvPr/>
        </p:nvSpPr>
        <p:spPr>
          <a:xfrm>
            <a:off x="0" y="6610350"/>
            <a:ext cx="12192000" cy="2476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grpSp>
        <p:nvGrpSpPr>
          <p:cNvPr id="11" name="Group 11"/>
          <p:cNvGrpSpPr/>
          <p:nvPr/>
        </p:nvGrpSpPr>
        <p:grpSpPr>
          <a:xfrm>
            <a:off x="754761" y="141446"/>
            <a:ext cx="10675239" cy="278702"/>
            <a:chOff x="754761" y="141446"/>
            <a:chExt cx="10675239" cy="278702"/>
          </a:xfrm>
        </p:grpSpPr>
        <p:sp>
          <p:nvSpPr>
            <p:cNvPr id="5" name="TextBox 5"/>
            <p:cNvSpPr txBox="1"/>
            <p:nvPr/>
          </p:nvSpPr>
          <p:spPr>
            <a:xfrm>
              <a:off x="754761" y="141446"/>
              <a:ext cx="207375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Part 3 · Follow-ups</a:t>
              </a:r>
              <a:endParaRPr lang="en-GB" sz="1420" b="1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10515600" y="171450"/>
              <a:ext cx="914400" cy="114300"/>
              <a:chOff x="10515600" y="171450"/>
              <a:chExt cx="914400" cy="11430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105156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7" name="Ellipse 7"/>
              <p:cNvSpPr/>
              <p:nvPr/>
            </p:nvSpPr>
            <p:spPr>
              <a:xfrm>
                <a:off x="107823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8" name="Ellipse 8"/>
              <p:cNvSpPr/>
              <p:nvPr/>
            </p:nvSpPr>
            <p:spPr>
              <a:xfrm>
                <a:off x="110490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9" name="Ellipse 9"/>
              <p:cNvSpPr/>
              <p:nvPr/>
            </p:nvSpPr>
            <p:spPr>
              <a:xfrm>
                <a:off x="11315700" y="171450"/>
                <a:ext cx="114300" cy="1143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</p:sp>
        </p:grpSp>
      </p:grpSp>
      <p:grpSp>
        <p:nvGrpSpPr>
          <p:cNvPr id="14" name="Group 14"/>
          <p:cNvGrpSpPr/>
          <p:nvPr/>
        </p:nvGrpSpPr>
        <p:grpSpPr>
          <a:xfrm>
            <a:off x="750570" y="1071562"/>
            <a:ext cx="1924225" cy="440055"/>
            <a:chOff x="750570" y="1071562"/>
            <a:chExt cx="1924225" cy="440055"/>
          </a:xfrm>
        </p:grpSpPr>
        <p:sp>
          <p:nvSpPr>
            <p:cNvPr id="12" name="TextBox 12"/>
            <p:cNvSpPr txBox="1"/>
            <p:nvPr/>
          </p:nvSpPr>
          <p:spPr>
            <a:xfrm>
              <a:off x="750570" y="1071562"/>
              <a:ext cx="192422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2250" b="1" dirty="0">
                  <a:solidFill>
                    <a:srgbClr val="6E0A1E"/>
                  </a:solidFill>
                  <a:latin typeface="+mn-lt"/>
                  <a:ea typeface="+mn-ea"/>
                  <a:cs typeface="+mn-cs"/>
                </a:rPr>
                <a:t>Conclusions</a:t>
              </a:r>
              <a:endParaRPr lang="en-GB" sz="2250" b="1" dirty="0">
                <a:solidFill>
                  <a:srgbClr val="6E0A1E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762000" y="1409700"/>
              <a:ext cx="1428750" cy="476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752856" y="1844040"/>
            <a:ext cx="4962144" cy="1607344"/>
            <a:chOff x="752856" y="1844040"/>
            <a:chExt cx="4962144" cy="1607344"/>
          </a:xfrm>
        </p:grpSpPr>
        <p:sp>
          <p:nvSpPr>
            <p:cNvPr id="15" name="TextBox 15"/>
            <p:cNvSpPr txBox="1"/>
            <p:nvPr/>
          </p:nvSpPr>
          <p:spPr>
            <a:xfrm>
              <a:off x="752856" y="1844040"/>
              <a:ext cx="24041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What we delivered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2152650"/>
              <a:ext cx="3352800" cy="3238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4114800" y="2152650"/>
              <a:ext cx="1600200" cy="3238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8685" y="2240756"/>
              <a:ext cx="46307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599429" y="2240756"/>
              <a:ext cx="6309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CV AUC</a:t>
              </a:r>
              <a:endParaRPr lang="en-GB" sz="112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762000" y="21526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762000" y="24765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62000" y="280035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9525">
              <a:solidFill>
                <a:srgbClr val="E9DBD2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762000" y="3124200"/>
              <a:ext cx="4953000" cy="9525"/>
            </a:xfrm>
            <a:custGeom>
              <a:avLst/>
              <a:gdLst/>
              <a:ahLst/>
              <a:cxnLst/>
              <a:rect l="l" t="t" r="r" b="b"/>
              <a:pathLst>
                <a:path w="4953000" h="9525">
                  <a:moveTo>
                    <a:pt x="0" y="0"/>
                  </a:moveTo>
                  <a:lnTo>
                    <a:pt x="49530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4114800" y="2476500"/>
              <a:ext cx="9525" cy="647700"/>
            </a:xfrm>
            <a:custGeom>
              <a:avLst/>
              <a:gdLst/>
              <a:ahLst/>
              <a:cxnLst/>
              <a:rect l="l" t="t" r="r" b="b"/>
              <a:pathLst>
                <a:path w="9525" h="647700">
                  <a:moveTo>
                    <a:pt x="0" y="0"/>
                  </a:moveTo>
                  <a:lnTo>
                    <a:pt x="0" y="64770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08685" y="2583656"/>
              <a:ext cx="23887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Best single model, L1_xgboost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168996" y="2583656"/>
              <a:ext cx="14918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0.96784 ± 0.00053</a:t>
              </a:r>
              <a:endParaRPr lang="en-GB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8685" y="2907506"/>
              <a:ext cx="27037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14-member ensemble (rank-space)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587182" y="2907506"/>
              <a:ext cx="6554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0.96807</a:t>
              </a:r>
              <a:endParaRPr lang="en-GB" sz="1120" b="1" dirty="0">
                <a:solidFill>
                  <a:schemeClr val="accent2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8685" y="3231356"/>
              <a:ext cx="28025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Leaderboard during the competition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602516" y="3231356"/>
              <a:ext cx="62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0.96627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896356" y="1844040"/>
            <a:ext cx="5549247" cy="2502694"/>
            <a:chOff x="5896356" y="1844040"/>
            <a:chExt cx="5549247" cy="2502694"/>
          </a:xfrm>
        </p:grpSpPr>
        <p:sp>
          <p:nvSpPr>
            <p:cNvPr id="32" name="TextBox 32"/>
            <p:cNvSpPr txBox="1"/>
            <p:nvPr/>
          </p:nvSpPr>
          <p:spPr>
            <a:xfrm>
              <a:off x="5896356" y="1844040"/>
              <a:ext cx="49313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Three things worth carrying forward</a:t>
              </a:r>
              <a:endParaRPr lang="en-GB" sz="1800" b="1" dirty="0">
                <a:solidFill>
                  <a:schemeClr val="accent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99785" y="2278856"/>
              <a:ext cx="44616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1.</a:t>
              </a:r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 value of a preprocessing step equals how hard the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99785" y="2526506"/>
              <a:ext cx="44163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downstream model finds it to construct itself — verified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99785" y="2774156"/>
              <a:ext cx="33489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times, always in the same direction.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99785" y="3078956"/>
              <a:ext cx="465330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2.</a:t>
              </a:r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Whether a hand-built feature helps depends on how many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99785" y="3326606"/>
              <a:ext cx="45676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terms its shape needs — a tree approximates a two-column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899785" y="3574256"/>
              <a:ext cx="444818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ratio but cannot approximate the four-term hyperplane.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899785" y="3879056"/>
              <a:ext cx="43030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3.</a:t>
              </a:r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"How large is significant" is a property of the pair,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899785" y="4126706"/>
              <a:ext cx="55458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 the data — </a:t>
              </a:r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0.000098</a:t>
              </a:r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near-twins, </a:t>
              </a:r>
              <a:r>
                <a:rPr lang="en-GB" sz="112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0.000564</a:t>
              </a:r>
              <a:r>
                <a:rPr lang="en-GB" sz="11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across families (≈ 6×).</a:t>
              </a:r>
              <a:endParaRPr lang="en-GB" sz="1120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55904" y="4652010"/>
            <a:ext cx="9902178" cy="697801"/>
            <a:chOff x="755904" y="4652010"/>
            <a:chExt cx="9902178" cy="697801"/>
          </a:xfrm>
        </p:grpSpPr>
        <p:sp>
          <p:nvSpPr>
            <p:cNvPr id="42" name="TextBox 42"/>
            <p:cNvSpPr txBox="1"/>
            <p:nvPr/>
          </p:nvSpPr>
          <p:spPr>
            <a:xfrm>
              <a:off x="755904" y="4652010"/>
              <a:ext cx="19812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Limits — said out loud.</a:t>
              </a:r>
              <a:endParaRPr lang="en-GB" sz="1200" b="1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56666" y="4915852"/>
              <a:ext cx="99014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5-fold throughout, no 10-fold control. The two post-competition numbers have no leaderboard validation. The size ladder covers 10 of</a:t>
              </a:r>
              <a:endParaRPr lang="en-GB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56666" y="5144452"/>
              <a:ext cx="88570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the 14 candidates. Transfer was verified for model selection and ensemble weights, not for hyper-parameter selection.</a:t>
              </a:r>
              <a:endParaRPr lang="en-GB" sz="1050" dirty="0">
                <a:solidFill>
                  <a:schemeClr val="accent6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6666" y="5525452"/>
            <a:ext cx="8609056" cy="433959"/>
            <a:chOff x="756666" y="5525452"/>
            <a:chExt cx="8609056" cy="433959"/>
          </a:xfrm>
        </p:grpSpPr>
        <p:sp>
          <p:nvSpPr>
            <p:cNvPr id="46" name="TextBox 46"/>
            <p:cNvSpPr txBox="1"/>
            <p:nvPr/>
          </p:nvSpPr>
          <p:spPr>
            <a:xfrm>
              <a:off x="756666" y="5525452"/>
              <a:ext cx="86090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Given the ordering again, we would do feature engineering </a:t>
              </a:r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before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 the imputation study: the whole imputation study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56666" y="5754052"/>
              <a:ext cx="78120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spans </a:t>
              </a:r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0.00297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; one feature-engineering step (the encoding + the corrected definition) is worth </a:t>
              </a:r>
              <a:r>
                <a:rPr lang="en-GB" sz="1050" b="1" i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0.00455</a:t>
              </a:r>
              <a:r>
                <a:rPr lang="en-GB" sz="1050" i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.</a:t>
              </a:r>
              <a:endParaRPr lang="en-GB" sz="1050" i="1" dirty="0">
                <a:solidFill>
                  <a:schemeClr val="dk1"/>
                </a:solidFill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566166" y="6668452"/>
            <a:ext cx="11059668" cy="205359"/>
            <a:chOff x="566166" y="6668452"/>
            <a:chExt cx="11059668" cy="205359"/>
          </a:xfrm>
        </p:grpSpPr>
        <p:sp>
          <p:nvSpPr>
            <p:cNvPr id="49" name="TextBox 49"/>
            <p:cNvSpPr txBox="1"/>
            <p:nvPr/>
          </p:nvSpPr>
          <p:spPr>
            <a:xfrm>
              <a:off x="566166" y="6668452"/>
              <a:ext cx="14456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MH6211 · Group 10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668140" y="6668452"/>
              <a:ext cx="8557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Conclusions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204448" y="6668452"/>
              <a:ext cx="4213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GB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16/16</a:t>
              </a:r>
              <a:endParaRPr lang="en-GB" sz="1050" dirty="0">
                <a:solidFill>
                  <a:srgbClr val="FFFFFF"/>
                </a:solidFill>
                <a:latin typeface="+mn-lt"/>
                <a:ea typeface="+mn-ea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smartphone_addiction_defense">
  <a:themeElements>
    <a:clrScheme name="smartphone_addiction_defense">
      <a:dk1>
        <a:srgbClr val="1A1A1A"/>
      </a:dk1>
      <a:lt1>
        <a:srgbClr val="FFFFFF"/>
      </a:lt1>
      <a:dk2>
        <a:srgbClr val="1F497D"/>
      </a:dk2>
      <a:lt2>
        <a:srgbClr val="FFFFFF"/>
      </a:lt2>
      <a:accent1>
        <a:srgbClr val="81021F"/>
      </a:accent1>
      <a:accent2>
        <a:srgbClr val="FFA54C"/>
      </a:accent2>
      <a:accent3>
        <a:srgbClr val="B6848E"/>
      </a:accent3>
      <a:accent4>
        <a:srgbClr val="81021F"/>
      </a:accent4>
      <a:accent5>
        <a:srgbClr val="E9DBD2"/>
      </a:accent5>
      <a:accent6>
        <a:srgbClr val="444444"/>
      </a:accent6>
      <a:hlink>
        <a:srgbClr val="FFA54C"/>
      </a:hlink>
      <a:folHlink>
        <a:srgbClr val="B6848E"/>
      </a:folHlink>
    </a:clrScheme>
    <a:fontScheme name="smartphone_addiction_defense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martphone_addiction_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martphone_addiction_defense">
  <a:themeElements>
    <a:clrScheme name="smartphone_addiction_defense">
      <a:dk1>
        <a:srgbClr val="1A1A1A"/>
      </a:dk1>
      <a:lt1>
        <a:srgbClr val="FFFFFF"/>
      </a:lt1>
      <a:dk2>
        <a:srgbClr val="1F497D"/>
      </a:dk2>
      <a:lt2>
        <a:srgbClr val="FFFFFF"/>
      </a:lt2>
      <a:accent1>
        <a:srgbClr val="81021F"/>
      </a:accent1>
      <a:accent2>
        <a:srgbClr val="FFA54C"/>
      </a:accent2>
      <a:accent3>
        <a:srgbClr val="B6848E"/>
      </a:accent3>
      <a:accent4>
        <a:srgbClr val="81021F"/>
      </a:accent4>
      <a:accent5>
        <a:srgbClr val="E9DBD2"/>
      </a:accent5>
      <a:accent6>
        <a:srgbClr val="444444"/>
      </a:accent6>
      <a:hlink>
        <a:srgbClr val="FFA54C"/>
      </a:hlink>
      <a:folHlink>
        <a:srgbClr val="B6848E"/>
      </a:folHlink>
    </a:clrScheme>
    <a:fontScheme name="smartphone_addiction_defense">
      <a:maj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imes New Roman"/>
        <a:ea typeface="SimSun"/>
        <a:cs typeface="Times New Roman"/>
        <a:font script="Jpan" typeface="SimSun"/>
        <a:font script="Hang" typeface="SimSun"/>
        <a:font script="Hans" typeface="SimSun"/>
        <a:font script="Hant" typeface="SimSun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martphone_addiction_defens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14267</Words>
  <Application>WPS 演示</Application>
  <PresentationFormat>On-screen Show (16:9)</PresentationFormat>
  <Paragraphs>859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6" baseType="lpstr">
      <vt:lpstr>Arial</vt:lpstr>
      <vt:lpstr>宋体</vt:lpstr>
      <vt:lpstr>Wingdings</vt:lpstr>
      <vt:lpstr>Arial</vt:lpstr>
      <vt:lpstr>Cambria Math</vt:lpstr>
      <vt:lpstr>Times New Roman</vt:lpstr>
      <vt:lpstr>微软雅黑</vt:lpstr>
      <vt:lpstr>Arial Unicode MS</vt:lpstr>
      <vt:lpstr>MS PGothic</vt:lpstr>
      <vt:lpstr>smartphone_addiction_defense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必成</cp:lastModifiedBy>
  <cp:revision>2</cp:revision>
  <dcterms:created xsi:type="dcterms:W3CDTF">2026-09-05T15:09:00Z</dcterms:created>
  <dcterms:modified xsi:type="dcterms:W3CDTF">2026-09-05T15:25:50Z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F084D23732B740CC82029AC7A0AC7C1A_12</vt:lpwstr>
  </property>
  <property fmtid="{D5CDD505-2E9C-101B-9397-08002B2CF9AE}" pid="3" name="KSOProductBuildVer">
    <vt:lpwstr>2052-12.1.0.28043</vt:lpwstr>
  </property>
</Properties>
</file>